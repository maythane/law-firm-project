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61" r:id="rId13"/>
    <p:sldId id="262" r:id="rId14"/>
    <p:sldId id="263" r:id="rId15"/>
    <p:sldId id="264" r:id="rId16"/>
    <p:sldId id="265" r:id="rId17"/>
    <p:sldId id="266" r:id="rId18"/>
    <p:sldId id="268" r:id="rId20"/>
    <p:sldId id="269" r:id="rId21"/>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5"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สวัสดีครับ ผมนายเมทนี พูลสมบัติ รหัส 6821500060 วันนี้จะนำเสนองานวิชา Object-Oriented Programming คือระบบผู้ช่วยจัดการคดีและตารางนัดหมายสำหรับทนายความ ก่อนเริ่ม ขอบอกว่าทุกข้ออ้างในสไลด์ชุดนี้ชี้ไปที่โค้ดจริงใน repo ใต้ตัวอย่างโค้ดจะมีชื่อไฟล์และบรรทัดกำกับไว้ อาจารย์เปิดตรวจตามได้ทันทีครับ</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ปัญหาตั้งต้นมาจากสำนักงานกฎหมายที่ยังใช้สมุดกับแชตจัดงาน มีสี่เรื่อง หนึ่ง รับนัดใหม่โดยไม่รู้ว่าวันนั้นมีนัดคดีอื่นอยู่แล้ว สอง กำหนดยื่นตามกฎหมาย เช่น คำให้การ อุทธรณ์ ฎีกา ไม่มีอะไรนับวันให้ สาม มอบหมายงานทางแชต ไม่รู้ว่าทนายเห็นหรือรับงานแล้วหรือยัง และสี่ แจกคดีใหม่โดยไม่เห็นว่าใครงานแน่นแค่ไหน ระบบจึงมีผู้ใช้สามบทบาท ทนายดูนัดวันนี้และตอบรับคดี ผู้จัดการมอบหมายคดีตามภาระงาน และแอดมินจัดการบัญชี โดยแอดมินไม่เห็นเนื้อหาคดีเลยครับ</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ภาพรวมระบบเป็นเว็บเดียวใช้ฐานข้อมูลเดียว ฝั่งเว็บใช้ FastAPI กับ Jinja2 template ตกแต่งด้วย Pico.css และ HTMX ฝั่งข้อมูลใช้ MariaDB ต่อผ่าน mysql-connector ตรงๆ ไม่ใช้ ORM รันด้วย Docker และทดสอบด้วย pytest 90 เทส ผู้ใช้ล็อกอินครั้งเดียว แล้วหน้า dashboard จะพาไปหน้าแรกตามบทบาทของตัวเอง ภาพทั้งสามคือหน้าจริงจากระบบ ทนายเห็นปฏิทินกับรายการใกล้ครบกำหนด ผู้จัดการเห็นคิวงานและภาระงานของทนายแต่ละคน แอดมินเห็นแค่จำนวนผู้ใช้ รหัสผ่านเก็บแบบ scrypt และแสดงวันที่เป็น พ.ศ. แต่เก็บเป็น ค.ศ. ต่อไปจะเข้าเรื่องการออกแบบครับ</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diagram ฝั่งคน ลูกศรหัวสามเหลี่ยมทุกเส้นคือการสืบทอด ชี้ขึ้นหาคลาสแม่ Person เป็นคลาส abstract บนสุด มีชื่อ เลขบัตร และเบอร์โทร SystemUser สืบจาก Person และเพิ่ม username password และสถานะใช้งาน Lawyer Manager และ Admin สืบจาก SystemUser ส่วน Client ลูกความ สืบจาก Person ตรงๆ ไม่ผ่าน SystemUser เพราะลูกความไม่ได้ล็อกอินเข้าระบบ ไดอะแกรมนี้ตรงกับ domain/person.py ครับ</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ฝั่งคดีและตาราง ตรงกลางคือ Case เก็บสถานะและรายการมอบหมายไว้เป็น private คดีหนึ่งมี CaseAssignment ได้หลายรายการ ซ้ายล่าง Appointment เป็นคลาส abstract มีลูกสามชนิด ขวามือ Schedule ไม่ได้สร้างนัดเอง แค่ยืมรายการนัดจาก repository มาตรวจนัดชน ฉบับเต็มที่มีเมธอดครบอยู่ในไฟล์สำรอง หน้า B7 ครับ</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เริ่มหลัก OOP ข้อแรก Abstraction คลาสแม่ประกาศสัญญาด้วย ABC กับ abstractmethod ว่าลูกต้องมีเมธอดอะไรบ้าง ซ้ายคือ Person กับ SystemUser ที่บังคับให้ลูกมี display_name, can_view_case, dashboard_cards และ home_url ขวาคือ Appointment ที่บังคับ reminder_lead_days, can_reschedule และ kind_label ผลคือสร้าง Appointment ตรงๆ ไม่ได้ Python จะโยน TypeError ทันที ผู้เรียกจึงพึ่งแค่สัญญา ไม่ต้องรู้ว่าเป็นลูกตัวไหน ส่วนเมธอดที่ใช้ร่วมกันจริง เช่น contact_info กับ overlaps เขียนไว้ที่แม่ครั้งเดียว ไม่ต้องเขียนซ้ำในลูกครับ</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Inheritance คลาสลูกได้ทุกอย่างจากแม่ แล้วเติมของตัวเอง Lawyer, Manager และ Admin ได้ username และ password จาก SystemUser แล้วแต่ละตัวเขียน display_name ของตัวเอง Lawyer ได้ทั้ง name phone จาก Person และ username password จาก SystemUser โดยไม่ต้องเขียนซ้ำ Lawyer เพิ่มแค่เลขใบอนุญาตว่าความ ส่วน Client สืบจาก Person ตรงๆ จุดที่อาจารย์มักถามคือ ทำไม Client ไม่สืบจาก SystemUser คำตอบคือลูกความไม่มี username และ password จึงไม่ผ่านความสัมพันธ์แบบ is-a กับผู้ใช้ระบบครับ</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Polymorphism คือเรียกเมธอดชื่อเดียว แต่ละคลาสตอบไม่เหมือนกัน ตัวอย่างคือ home_url ทนายไปหน้าตารางวันนี้ ผู้จัดการไปหน้า dashboard ของผู้จัดการ แอดมินไปหน้าแอดมิน route เรียกแค่ current_user.home_url() บรรทัดเดียว ไม่ต้องถามว่าเป็น role ไหน หน้าแรกสามแบบในสไลด์ 3 มาจากบรรทัดนี้ ส่วน reminder_lead_days ของนัดสามชนิดก็ใช้หลักเดียวกันครับ</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Encapsulation สถานะของคดีกับสถานะการมอบหมายแก้ตรงจากข้างนอกไม่ได้ เก็บไว้ใน _status และเปิดให้อ่านผ่าน property status ที่ไม่มี setter ถ้าสั่ง case.status = ... จะได้ AttributeError การเปลี่ยนสถานะต้องผ่านเมธอดที่ตรวจกฎก่อน เช่น advance_status ต้องเลื่อนทีละขั้น และจะยื่นฟ้องได้ต้องมีทนายตอบรับแล้ว ถ้าผิดกฎจะโยน error กล่องล่างคือการมอบหมายใช้หลักเดียวกัน accept ตรวจก่อนว่ายังรอตอบรับอยู่ แล้วจึงเปลี่ยนเป็น ACCEPTED ภาพขวาบนคือหัวคดี ป้ายสถานะบอกว่าอยู่ขั้นสืบพยาน ภาพขวาล่างคือแผงจัดการคดี มีปุ่มม่วงปุ่มเดียวคือเลื่อนสถานะเป็นตัดสิน เพราะ advance_status ไม่ยอมให้ข้ามขั้น ข้อยกเว้นมีที่เดียวคือ repository ตั้ง _status ตรงตอนโหลดแถวเดิมจากฐาน ค่านั้นผ่านกฎมาแล้วตอนบันทึก จึงไม่ต้องตรวจซ้ำครับ</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ทุกตัวในระบบเป็นคลาส แม่คือ DomainError มีลูกสี่ตัวตามชนิดความผิด คือนัดเวลาชนกัน ข้ามขั้นสถานะ เลื่อนนัดไม่ได้ และมอบหมายหรือรับคดีผิดกฎ ตัวอย่างจริงอยู่กลางสไลด์ ผมกรอกนัดพบลูกความทับเวลานัดเดิมของทนายคนเดียวกัน ระบบโยน ScheduleConflictError แล้ว route ที่จับ error ชนิดนี้ไว้จะแสดงฟอร์มเดิมพร้อมแถบแดง ไม่บันทึกนัดนั้น สรุปคือทำผิดกฎแล้วได้ error ชนิดเฉพาะ และหน้าเว็บแปลเป็นข้อความไทยครับ (ถ้าถูกถาม: รหัสกฎคือ BR-1, BR-7 8 9 18, BR-3 กับ 5 และ BR-15 ถึง 19 ไม่มี handler กลาง แต่ละ route จับ subclass ของตัวเอง และเทส assert ชนิด subclass ที่เจาะจง)</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 ของคดีตั้งแต่เปิดจนปิด ขั้นหลักทั้งห้าขั้นมีเมธอดใน domain คุมกฎ ผู้จัดการเปิดคดี มอบหมายทนายด้วย assign_lawyer ทนายตอบรับหรือปฏิเสธด้วย accept หรือ decline จากนั้นเพิ่มนัดและเลื่อนสถานะคดี จนปิดคดีได้เมื่อ can_close เป็นจริง คือไม่มีนัดหรือกำหนดยื่นค้าง ทางแยกสีแดงคือการถอนตัว ทนายขอถอนตัว ผู้จัดการอนุมัติหรือไม่อนุมัติ ถ้าอนุมัติก็ย้ายหรือยกเลิกนัด ขั้นย้ายและยกเลิกนัดเป็นงานของ AppointmentRepository โดยตรง ไม่มีกฎใน domain คุม ถ้าถามชื่อเมธอด ขั้นหลักคือ Case กับ repo.add assign_lawyer accept decline add advance_status can_close ส่วนทางแยกคือ request_withdraw approve reject_withdraw reassign cancel ครับ</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สรุป สี่หลักของ OOP ที่โชว์ในระบบนี้ Encapsulation สถานะคดีและการมอบหมายอ่านได้อย่างเดียว เปลี่ยนผ่านเมธอดที่ตรวจกฎ Abstraction Person SystemUser และ Appointment ประกาศสัญญาให้ลูกเติม Inheritance ผู้ใช้สามบทบาทสืบจาก SystemUser และนัดสามชนิดสืบจาก Appointment ซึ่งเป็น is-a จริง Polymorphism home_url บรรทัดเดียวพาผู้ใช้ไปหน้าแรกตามบทบาท และ Exception ทำผิดกฎแล้วได้ error ชนิดเฉพาะที่หน้าเว็บแปลเป็นข้อความไทย งานต่อยอดคือแจ้งเตือนทางอีเมลหรือไลน์ ซิงก์ปฏิทิน และสิทธิ์ละเอียดต่อคดี กฎทั้งหมดนี้มีเทสคุม 90 เทส ผ่านทั้งหมด กฎธุรกิจทั้งหมดอยู่ในเมธอดของคลาสใน domain ขอบคุณครับ เปิดรับคำถามครับ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1397000"/>
            <a:ext cx="10668000" cy="381000"/>
          </a:xfrm>
          <a:prstGeom prst="rect">
            <a:avLst/>
          </a:prstGeom>
          <a:noFill/>
        </p:spPr>
        <p:txBody>
          <a:bodyPr wrap="square" anchor="t" lIns="50800" rIns="50800" tIns="25400" bIns="25400">
            <a:spAutoFit/>
          </a:bodyPr>
          <a:lstStyle/>
          <a:p>
            <a:pPr algn="l">
              <a:spcAft>
                <a:spcPts val="600"/>
              </a:spcAft>
            </a:pPr>
            <a:r>
              <a:rPr sz="1500" b="1">
                <a:solidFill>
                  <a:srgbClr val="B39DDB"/>
                </a:solidFill>
                <a:latin typeface="Sarabun"/>
                <a:ea typeface="Sarabun"/>
                <a:cs typeface="Sarabun"/>
              </a:rPr>
              <a:t>OBJECT-ORIENTED PROGRAMMING · COURSE PRESENTATION</a:t>
            </a:r>
          </a:p>
        </p:txBody>
      </p:sp>
      <p:sp>
        <p:nvSpPr>
          <p:cNvPr id="4" name="TextBox 3"/>
          <p:cNvSpPr txBox="1"/>
          <p:nvPr/>
        </p:nvSpPr>
        <p:spPr>
          <a:xfrm>
            <a:off x="889000" y="1841500"/>
            <a:ext cx="10668000" cy="1651000"/>
          </a:xfrm>
          <a:prstGeom prst="rect">
            <a:avLst/>
          </a:prstGeom>
          <a:noFill/>
        </p:spPr>
        <p:txBody>
          <a:bodyPr wrap="square" anchor="t" lIns="50800" rIns="50800" tIns="25400" bIns="25400">
            <a:spAutoFit/>
          </a:bodyPr>
          <a:lstStyle/>
          <a:p>
            <a:pPr algn="l">
              <a:spcAft>
                <a:spcPts val="0"/>
              </a:spcAft>
            </a:pPr>
            <a:r>
              <a:rPr sz="4200" b="1">
                <a:solidFill>
                  <a:srgbClr val="FFFFFF"/>
                </a:solidFill>
                <a:latin typeface="Sarabun"/>
                <a:ea typeface="Sarabun"/>
                <a:cs typeface="Sarabun"/>
              </a:rPr>
              <a:t>ระบบผู้ช่วยจัดการคดี</a:t>
            </a:r>
          </a:p>
          <a:p>
            <a:pPr algn="l">
              <a:spcAft>
                <a:spcPts val="0"/>
              </a:spcAft>
            </a:pPr>
            <a:r>
              <a:rPr sz="4200" b="1">
                <a:solidFill>
                  <a:srgbClr val="FFFFFF"/>
                </a:solidFill>
                <a:latin typeface="Sarabun"/>
                <a:ea typeface="Sarabun"/>
                <a:cs typeface="Sarabun"/>
              </a:rPr>
              <a:t>และตารางนัดหมายสำหรับทนายความ</a:t>
            </a:r>
          </a:p>
        </p:txBody>
      </p:sp>
      <p:sp>
        <p:nvSpPr>
          <p:cNvPr id="5" name="TextBox 4"/>
          <p:cNvSpPr txBox="1"/>
          <p:nvPr/>
        </p:nvSpPr>
        <p:spPr>
          <a:xfrm>
            <a:off x="889000" y="3530600"/>
            <a:ext cx="10668000" cy="431800"/>
          </a:xfrm>
          <a:prstGeom prst="rect">
            <a:avLst/>
          </a:prstGeom>
          <a:noFill/>
        </p:spPr>
        <p:txBody>
          <a:bodyPr wrap="square" anchor="t" lIns="50800" rIns="50800" tIns="25400" bIns="25400">
            <a:spAutoFit/>
          </a:bodyPr>
          <a:lstStyle/>
          <a:p>
            <a:pPr algn="l">
              <a:spcAft>
                <a:spcPts val="600"/>
              </a:spcAft>
            </a:pPr>
            <a:r>
              <a:rPr sz="2200" b="0">
                <a:solidFill>
                  <a:srgbClr val="A6A6A6"/>
                </a:solidFill>
                <a:latin typeface="Sarabun"/>
                <a:ea typeface="Sarabun"/>
                <a:cs typeface="Sarabun"/>
              </a:rPr>
              <a:t>Law Firm Case &amp; Schedule Assistant · การออกแบบเชิง OOP</a:t>
            </a:r>
          </a:p>
        </p:txBody>
      </p:sp>
      <p:sp>
        <p:nvSpPr>
          <p:cNvPr id="6" name="Rectangle 5"/>
          <p:cNvSpPr/>
          <p:nvPr/>
        </p:nvSpPr>
        <p:spPr>
          <a:xfrm>
            <a:off x="889000" y="4191000"/>
            <a:ext cx="1524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9000" y="4470400"/>
            <a:ext cx="10668000" cy="1143000"/>
          </a:xfrm>
          <a:prstGeom prst="rect">
            <a:avLst/>
          </a:prstGeom>
          <a:noFill/>
        </p:spPr>
        <p:txBody>
          <a:bodyPr wrap="square" anchor="t" lIns="50800" rIns="50800" tIns="25400" bIns="25400">
            <a:spAutoFit/>
          </a:bodyPr>
          <a:lstStyle/>
          <a:p>
            <a:pPr algn="l">
              <a:spcAft>
                <a:spcPts val="800"/>
              </a:spcAft>
            </a:pPr>
            <a:r>
              <a:rPr sz="2000" b="0">
                <a:solidFill>
                  <a:srgbClr val="FFFFFF"/>
                </a:solidFill>
                <a:latin typeface="Sarabun"/>
                <a:ea typeface="Sarabun"/>
                <a:cs typeface="Sarabun"/>
              </a:rPr>
              <a:t>นายเมทนี พูลสมบัติ  ·  รหัสนักศึกษา 6821500060</a:t>
            </a:r>
          </a:p>
          <a:p>
            <a:pPr algn="l">
              <a:spcAft>
                <a:spcPts val="800"/>
              </a:spcAft>
            </a:pPr>
            <a:r>
              <a:rPr sz="1600" b="0">
                <a:solidFill>
                  <a:srgbClr val="A6A6A6"/>
                </a:solidFill>
                <a:latin typeface="Sarabun"/>
                <a:ea typeface="Sarabun"/>
                <a:cs typeface="Sarabun"/>
              </a:rPr>
              <a:t>FastAPI · Jinja2 · MariaDB · pytest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จัดงานด้วยสมุดและแชต ทำให้นัดชนและกำหนดหลุด</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ปัญหาและผู้ใช้ 3 บทบาท</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2</a:t>
            </a:r>
          </a:p>
        </p:txBody>
      </p:sp>
      <p:sp>
        <p:nvSpPr>
          <p:cNvPr id="7" name="TextBox 6"/>
          <p:cNvSpPr txBox="1"/>
          <p:nvPr/>
        </p:nvSpPr>
        <p:spPr>
          <a:xfrm>
            <a:off x="508000" y="1524000"/>
            <a:ext cx="11176000" cy="1905000"/>
          </a:xfrm>
          <a:prstGeom prst="rect">
            <a:avLst/>
          </a:prstGeom>
          <a:noFill/>
        </p:spPr>
        <p:txBody>
          <a:bodyPr wrap="square" anchor="t" lIns="50800" rIns="50800" tIns="25400" bIns="25400">
            <a:spAutoFit/>
          </a:bodyPr>
          <a:lstStyle/>
          <a:p>
            <a:pPr algn="l">
              <a:spcAft>
                <a:spcPts val="800"/>
              </a:spcAft>
            </a:pPr>
            <a:r>
              <a:rPr sz="1800" b="0">
                <a:solidFill>
                  <a:srgbClr val="FFFFFF"/>
                </a:solidFill>
                <a:latin typeface="Sarabun"/>
                <a:ea typeface="Sarabun"/>
                <a:cs typeface="Sarabun"/>
              </a:rPr>
              <a:t>• รับนัดใหม่โดยไม่รู้ว่าวันนั้นมีนัดอีกคดีอยู่แล้ว</a:t>
            </a:r>
          </a:p>
          <a:p>
            <a:pPr algn="l">
              <a:spcAft>
                <a:spcPts val="800"/>
              </a:spcAft>
            </a:pPr>
            <a:r>
              <a:rPr sz="1800" b="0">
                <a:solidFill>
                  <a:srgbClr val="FFFFFF"/>
                </a:solidFill>
                <a:latin typeface="Sarabun"/>
                <a:ea typeface="Sarabun"/>
                <a:cs typeface="Sarabun"/>
              </a:rPr>
              <a:t>• กำหนดยื่นตามกฎหมาย (คำให้การ / อุทธรณ์ / ฎีกา) ไม่มีอะไรนับวันให้</a:t>
            </a:r>
          </a:p>
          <a:p>
            <a:pPr algn="l">
              <a:spcAft>
                <a:spcPts val="800"/>
              </a:spcAft>
            </a:pPr>
            <a:r>
              <a:rPr sz="1800" b="0">
                <a:solidFill>
                  <a:srgbClr val="FFFFFF"/>
                </a:solidFill>
                <a:latin typeface="Sarabun"/>
                <a:ea typeface="Sarabun"/>
                <a:cs typeface="Sarabun"/>
              </a:rPr>
              <a:t>• มอบหมายทางแชต ไม่รู้ว่าทนายเห็น รับไหว หรือรับไปแล้ว</a:t>
            </a:r>
          </a:p>
          <a:p>
            <a:pPr algn="l">
              <a:spcAft>
                <a:spcPts val="800"/>
              </a:spcAft>
            </a:pPr>
            <a:r>
              <a:rPr sz="1800" b="0">
                <a:solidFill>
                  <a:srgbClr val="FFFFFF"/>
                </a:solidFill>
                <a:latin typeface="Sarabun"/>
                <a:ea typeface="Sarabun"/>
                <a:cs typeface="Sarabun"/>
              </a:rPr>
              <a:t>• แจกคดีใหม่โดยไม่เห็นว่าทนายแต่ละคนงานแน่นแค่ไหน</a:t>
            </a:r>
          </a:p>
        </p:txBody>
      </p:sp>
      <p:sp>
        <p:nvSpPr>
          <p:cNvPr id="8" name="Rectangle 7"/>
          <p:cNvSpPr/>
          <p:nvPr/>
        </p:nvSpPr>
        <p:spPr>
          <a:xfrm>
            <a:off x="508000" y="3810000"/>
            <a:ext cx="3556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6600" y="3987800"/>
            <a:ext cx="3098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ทนาย</a:t>
            </a:r>
          </a:p>
        </p:txBody>
      </p:sp>
      <p:sp>
        <p:nvSpPr>
          <p:cNvPr id="10" name="TextBox 9"/>
          <p:cNvSpPr txBox="1"/>
          <p:nvPr/>
        </p:nvSpPr>
        <p:spPr>
          <a:xfrm>
            <a:off x="736600" y="4495800"/>
            <a:ext cx="3098800" cy="1244600"/>
          </a:xfrm>
          <a:prstGeom prst="rect">
            <a:avLst/>
          </a:prstGeom>
          <a:noFill/>
        </p:spPr>
        <p:txBody>
          <a:bodyPr wrap="square" anchor="t" lIns="50800" rIns="50800" tIns="25400" bIns="25400">
            <a:spAutoFit/>
          </a:bodyPr>
          <a:lstStyle/>
          <a:p>
            <a:pPr algn="l">
              <a:spcAft>
                <a:spcPts val="1000"/>
              </a:spcAft>
            </a:pPr>
            <a:r>
              <a:rPr sz="1600" b="0">
                <a:solidFill>
                  <a:srgbClr val="FFFFFF"/>
                </a:solidFill>
                <a:latin typeface="Sarabun"/>
                <a:ea typeface="Sarabun"/>
                <a:cs typeface="Sarabun"/>
              </a:rPr>
              <a:t>ดูนัดวันนี้ ตอบรับ/ปฏิเสธคดี ดูรายการใกล้ครบกำหนด</a:t>
            </a:r>
          </a:p>
        </p:txBody>
      </p:sp>
      <p:sp>
        <p:nvSpPr>
          <p:cNvPr id="11" name="Rectangle 10"/>
          <p:cNvSpPr/>
          <p:nvPr/>
        </p:nvSpPr>
        <p:spPr>
          <a:xfrm>
            <a:off x="4318000" y="3810000"/>
            <a:ext cx="3556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6600" y="3987800"/>
            <a:ext cx="3098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ผู้จัดการ</a:t>
            </a:r>
          </a:p>
        </p:txBody>
      </p:sp>
      <p:sp>
        <p:nvSpPr>
          <p:cNvPr id="13" name="TextBox 12"/>
          <p:cNvSpPr txBox="1"/>
          <p:nvPr/>
        </p:nvSpPr>
        <p:spPr>
          <a:xfrm>
            <a:off x="4546600" y="4495800"/>
            <a:ext cx="3098800" cy="1244600"/>
          </a:xfrm>
          <a:prstGeom prst="rect">
            <a:avLst/>
          </a:prstGeom>
          <a:noFill/>
        </p:spPr>
        <p:txBody>
          <a:bodyPr wrap="square" anchor="t" lIns="50800" rIns="50800" tIns="25400" bIns="25400">
            <a:spAutoFit/>
          </a:bodyPr>
          <a:lstStyle/>
          <a:p>
            <a:pPr algn="l">
              <a:spcAft>
                <a:spcPts val="1000"/>
              </a:spcAft>
            </a:pPr>
            <a:r>
              <a:rPr sz="1600" b="0">
                <a:solidFill>
                  <a:srgbClr val="FFFFFF"/>
                </a:solidFill>
                <a:latin typeface="Sarabun"/>
                <a:ea typeface="Sarabun"/>
                <a:cs typeface="Sarabun"/>
              </a:rPr>
              <a:t>มอบหมายคดีตามภาระงาน เปิดคดีใหม่ อนุมัติคำขอถอนตัว</a:t>
            </a:r>
          </a:p>
        </p:txBody>
      </p:sp>
      <p:sp>
        <p:nvSpPr>
          <p:cNvPr id="14" name="Rectangle 13"/>
          <p:cNvSpPr/>
          <p:nvPr/>
        </p:nvSpPr>
        <p:spPr>
          <a:xfrm>
            <a:off x="8128000" y="3810000"/>
            <a:ext cx="3556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3987800"/>
            <a:ext cx="3098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แอดมิน</a:t>
            </a:r>
          </a:p>
        </p:txBody>
      </p:sp>
      <p:sp>
        <p:nvSpPr>
          <p:cNvPr id="16" name="TextBox 15"/>
          <p:cNvSpPr txBox="1"/>
          <p:nvPr/>
        </p:nvSpPr>
        <p:spPr>
          <a:xfrm>
            <a:off x="8356600" y="4495800"/>
            <a:ext cx="3098800" cy="1244600"/>
          </a:xfrm>
          <a:prstGeom prst="rect">
            <a:avLst/>
          </a:prstGeom>
          <a:noFill/>
        </p:spPr>
        <p:txBody>
          <a:bodyPr wrap="square" anchor="t" lIns="50800" rIns="50800" tIns="25400" bIns="25400">
            <a:spAutoFit/>
          </a:bodyPr>
          <a:lstStyle/>
          <a:p>
            <a:pPr algn="l">
              <a:spcAft>
                <a:spcPts val="1000"/>
              </a:spcAft>
            </a:pPr>
            <a:r>
              <a:rPr sz="1600" b="0">
                <a:solidFill>
                  <a:srgbClr val="FFFFFF"/>
                </a:solidFill>
                <a:latin typeface="Sarabun"/>
                <a:ea typeface="Sarabun"/>
                <a:cs typeface="Sarabun"/>
              </a:rPr>
              <a:t>จัดการบัญชีผู้ใช้ ไม่เห็นเนื้อหาคดี</a:t>
            </a:r>
          </a:p>
        </p:txBody>
      </p:sp>
      <p:sp>
        <p:nvSpPr>
          <p:cNvPr id="17" name="TextBox 16"/>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PRODUCT.md · docs/proposal.md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เว็บแอปเดียวบน FastAPI + MariaDB แยกหน้าแรกตามบทบาท</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ภาพรวมระบบ · tech stack</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3</a:t>
            </a:r>
          </a:p>
        </p:txBody>
      </p:sp>
      <p:sp>
        <p:nvSpPr>
          <p:cNvPr id="7" name="Rectangle 6"/>
          <p:cNvSpPr/>
          <p:nvPr/>
        </p:nvSpPr>
        <p:spPr>
          <a:xfrm>
            <a:off x="488950" y="1525250"/>
            <a:ext cx="3594100" cy="2169198"/>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wyer_today.png"/>
          <p:cNvPicPr>
            <a:picLocks noChangeAspect="1"/>
          </p:cNvPicPr>
          <p:nvPr/>
        </p:nvPicPr>
        <p:blipFill>
          <a:blip r:embed="rId3"/>
          <a:srcRect b="40000"/>
          <a:stretch>
            <a:fillRect/>
          </a:stretch>
        </p:blipFill>
        <p:spPr>
          <a:xfrm>
            <a:off x="508000" y="1544300"/>
            <a:ext cx="3556000" cy="2131098"/>
          </a:xfrm>
          <a:prstGeom prst="rect">
            <a:avLst/>
          </a:prstGeom>
        </p:spPr>
      </p:pic>
      <p:sp>
        <p:nvSpPr>
          <p:cNvPr id="9" name="TextBox 8"/>
          <p:cNvSpPr txBox="1"/>
          <p:nvPr/>
        </p:nvSpPr>
        <p:spPr>
          <a:xfrm>
            <a:off x="508000" y="3784600"/>
            <a:ext cx="3556000" cy="279400"/>
          </a:xfrm>
          <a:prstGeom prst="rect">
            <a:avLst/>
          </a:prstGeom>
          <a:noFill/>
        </p:spPr>
        <p:txBody>
          <a:bodyPr wrap="square" anchor="t" lIns="50800" rIns="50800" tIns="25400" bIns="25400">
            <a:spAutoFit/>
          </a:bodyPr>
          <a:lstStyle/>
          <a:p>
            <a:pPr algn="ctr">
              <a:spcAft>
                <a:spcPts val="600"/>
              </a:spcAft>
            </a:pPr>
            <a:r>
              <a:rPr sz="1300" b="1">
                <a:solidFill>
                  <a:srgbClr val="B39DDB"/>
                </a:solidFill>
                <a:latin typeface="Sarabun"/>
                <a:ea typeface="Sarabun"/>
                <a:cs typeface="Sarabun"/>
              </a:rPr>
              <a:t>ทนาย → /schedule/today</a:t>
            </a:r>
          </a:p>
        </p:txBody>
      </p:sp>
      <p:sp>
        <p:nvSpPr>
          <p:cNvPr id="10" name="Rectangle 9"/>
          <p:cNvSpPr/>
          <p:nvPr/>
        </p:nvSpPr>
        <p:spPr>
          <a:xfrm>
            <a:off x="4298950" y="1558412"/>
            <a:ext cx="3594100" cy="2102874"/>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anager_dashboard.png"/>
          <p:cNvPicPr>
            <a:picLocks noChangeAspect="1"/>
          </p:cNvPicPr>
          <p:nvPr/>
        </p:nvPicPr>
        <p:blipFill>
          <a:blip r:embed="rId4"/>
          <a:srcRect b="25000"/>
          <a:stretch>
            <a:fillRect/>
          </a:stretch>
        </p:blipFill>
        <p:spPr>
          <a:xfrm>
            <a:off x="4318000" y="1577462"/>
            <a:ext cx="3556000" cy="2064774"/>
          </a:xfrm>
          <a:prstGeom prst="rect">
            <a:avLst/>
          </a:prstGeom>
        </p:spPr>
      </p:pic>
      <p:sp>
        <p:nvSpPr>
          <p:cNvPr id="12" name="TextBox 11"/>
          <p:cNvSpPr txBox="1"/>
          <p:nvPr/>
        </p:nvSpPr>
        <p:spPr>
          <a:xfrm>
            <a:off x="4318000" y="3784600"/>
            <a:ext cx="3556000" cy="279400"/>
          </a:xfrm>
          <a:prstGeom prst="rect">
            <a:avLst/>
          </a:prstGeom>
          <a:noFill/>
        </p:spPr>
        <p:txBody>
          <a:bodyPr wrap="square" anchor="t" lIns="50800" rIns="50800" tIns="25400" bIns="25400">
            <a:spAutoFit/>
          </a:bodyPr>
          <a:lstStyle/>
          <a:p>
            <a:pPr algn="ctr">
              <a:spcAft>
                <a:spcPts val="600"/>
              </a:spcAft>
            </a:pPr>
            <a:r>
              <a:rPr sz="1300" b="1">
                <a:solidFill>
                  <a:srgbClr val="B39DDB"/>
                </a:solidFill>
                <a:latin typeface="Sarabun"/>
                <a:ea typeface="Sarabun"/>
                <a:cs typeface="Sarabun"/>
              </a:rPr>
              <a:t>ผู้จัดการ → /manager/dashboard</a:t>
            </a:r>
          </a:p>
        </p:txBody>
      </p:sp>
      <p:sp>
        <p:nvSpPr>
          <p:cNvPr id="13" name="Rectangle 12"/>
          <p:cNvSpPr/>
          <p:nvPr/>
        </p:nvSpPr>
        <p:spPr>
          <a:xfrm>
            <a:off x="8108950" y="1849283"/>
            <a:ext cx="3594100" cy="1521132"/>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dmin_dashboard.png"/>
          <p:cNvPicPr>
            <a:picLocks noChangeAspect="1"/>
          </p:cNvPicPr>
          <p:nvPr/>
        </p:nvPicPr>
        <p:blipFill>
          <a:blip r:embed="rId5"/>
          <a:srcRect/>
          <a:stretch>
            <a:fillRect/>
          </a:stretch>
        </p:blipFill>
        <p:spPr>
          <a:xfrm>
            <a:off x="8128000" y="1868333"/>
            <a:ext cx="3556000" cy="1483032"/>
          </a:xfrm>
          <a:prstGeom prst="rect">
            <a:avLst/>
          </a:prstGeom>
        </p:spPr>
      </p:pic>
      <p:sp>
        <p:nvSpPr>
          <p:cNvPr id="15" name="TextBox 14"/>
          <p:cNvSpPr txBox="1"/>
          <p:nvPr/>
        </p:nvSpPr>
        <p:spPr>
          <a:xfrm>
            <a:off x="8128000" y="3784600"/>
            <a:ext cx="3556000" cy="279400"/>
          </a:xfrm>
          <a:prstGeom prst="rect">
            <a:avLst/>
          </a:prstGeom>
          <a:noFill/>
        </p:spPr>
        <p:txBody>
          <a:bodyPr wrap="square" anchor="t" lIns="50800" rIns="50800" tIns="25400" bIns="25400">
            <a:spAutoFit/>
          </a:bodyPr>
          <a:lstStyle/>
          <a:p>
            <a:pPr algn="ctr">
              <a:spcAft>
                <a:spcPts val="600"/>
              </a:spcAft>
            </a:pPr>
            <a:r>
              <a:rPr sz="1300" b="1">
                <a:solidFill>
                  <a:srgbClr val="B39DDB"/>
                </a:solidFill>
                <a:latin typeface="Sarabun"/>
                <a:ea typeface="Sarabun"/>
                <a:cs typeface="Sarabun"/>
              </a:rPr>
              <a:t>แอดมิน → /admin/dashboard</a:t>
            </a:r>
          </a:p>
        </p:txBody>
      </p:sp>
      <p:sp>
        <p:nvSpPr>
          <p:cNvPr id="16" name="Rectangle 15"/>
          <p:cNvSpPr/>
          <p:nvPr/>
        </p:nvSpPr>
        <p:spPr>
          <a:xfrm>
            <a:off x="508000" y="4254500"/>
            <a:ext cx="5461000" cy="15875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600" y="4432300"/>
            <a:ext cx="5003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Web layer</a:t>
            </a:r>
          </a:p>
        </p:txBody>
      </p:sp>
      <p:sp>
        <p:nvSpPr>
          <p:cNvPr id="18" name="TextBox 17"/>
          <p:cNvSpPr txBox="1"/>
          <p:nvPr/>
        </p:nvSpPr>
        <p:spPr>
          <a:xfrm>
            <a:off x="736600" y="4940300"/>
            <a:ext cx="5003800" cy="800100"/>
          </a:xfrm>
          <a:prstGeom prst="rect">
            <a:avLst/>
          </a:prstGeom>
          <a:noFill/>
        </p:spPr>
        <p:txBody>
          <a:bodyPr wrap="square" anchor="t" lIns="50800" rIns="50800" tIns="25400" bIns="25400">
            <a:spAutoFit/>
          </a:bodyPr>
          <a:lstStyle/>
          <a:p>
            <a:pPr algn="l">
              <a:spcAft>
                <a:spcPts val="400"/>
              </a:spcAft>
            </a:pPr>
            <a:r>
              <a:rPr sz="1500" b="0">
                <a:solidFill>
                  <a:srgbClr val="FFFFFF"/>
                </a:solidFill>
                <a:latin typeface="Sarabun"/>
                <a:ea typeface="Sarabun"/>
                <a:cs typeface="Sarabun"/>
              </a:rPr>
              <a:t>FastAPI 0.115 · Jinja2 · Pico.css + HTMX</a:t>
            </a:r>
          </a:p>
          <a:p>
            <a:pPr algn="l">
              <a:spcAft>
                <a:spcPts val="400"/>
              </a:spcAft>
            </a:pPr>
            <a:r>
              <a:rPr sz="1500" b="0">
                <a:solidFill>
                  <a:srgbClr val="FFFFFF"/>
                </a:solidFill>
                <a:latin typeface="Sarabun"/>
                <a:ea typeface="Sarabun"/>
                <a:cs typeface="Sarabun"/>
              </a:rPr>
              <a:t>scrypt + signed-cookie session</a:t>
            </a:r>
          </a:p>
        </p:txBody>
      </p:sp>
      <p:sp>
        <p:nvSpPr>
          <p:cNvPr id="19" name="Rectangle 18"/>
          <p:cNvSpPr/>
          <p:nvPr/>
        </p:nvSpPr>
        <p:spPr>
          <a:xfrm>
            <a:off x="6223000" y="4254500"/>
            <a:ext cx="5461000" cy="15875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1600" y="4432300"/>
            <a:ext cx="5003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Data + infra</a:t>
            </a:r>
          </a:p>
        </p:txBody>
      </p:sp>
      <p:sp>
        <p:nvSpPr>
          <p:cNvPr id="21" name="TextBox 20"/>
          <p:cNvSpPr txBox="1"/>
          <p:nvPr/>
        </p:nvSpPr>
        <p:spPr>
          <a:xfrm>
            <a:off x="6451600" y="4940300"/>
            <a:ext cx="5003800" cy="800100"/>
          </a:xfrm>
          <a:prstGeom prst="rect">
            <a:avLst/>
          </a:prstGeom>
          <a:noFill/>
        </p:spPr>
        <p:txBody>
          <a:bodyPr wrap="square" anchor="t" lIns="50800" rIns="50800" tIns="25400" bIns="25400">
            <a:spAutoFit/>
          </a:bodyPr>
          <a:lstStyle/>
          <a:p>
            <a:pPr algn="l">
              <a:spcAft>
                <a:spcPts val="400"/>
              </a:spcAft>
            </a:pPr>
            <a:r>
              <a:rPr sz="1500" b="0">
                <a:solidFill>
                  <a:srgbClr val="FFFFFF"/>
                </a:solidFill>
                <a:latin typeface="Sarabun"/>
                <a:ea typeface="Sarabun"/>
                <a:cs typeface="Sarabun"/>
              </a:rPr>
              <a:t>MariaDB 10.4 · mysql-connector ไม่ใช้ ORM</a:t>
            </a:r>
          </a:p>
          <a:p>
            <a:pPr algn="l">
              <a:spcAft>
                <a:spcPts val="400"/>
              </a:spcAft>
            </a:pPr>
            <a:r>
              <a:rPr sz="1500" b="0">
                <a:solidFill>
                  <a:srgbClr val="FFFFFF"/>
                </a:solidFill>
                <a:latin typeface="Sarabun"/>
                <a:ea typeface="Sarabun"/>
                <a:cs typeface="Sarabun"/>
              </a:rPr>
              <a:t>Docker + phpMyAdmin · pytest 90 เทส</a:t>
            </a:r>
          </a:p>
        </p:txBody>
      </p:sp>
      <p:sp>
        <p:nvSpPr>
          <p:cNvPr id="22" name="TextBox 21"/>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requirements.txt · Dockerfile · docker-compose.yml · README.md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Person → SystemUser → ผู้ใช้ 3 บทบาท · Client สืบจาก Person</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CLASS DIAGRAM ฝั่งคน (1/2) · ลูกศรหัวสามเหลี่ยม = สืบทอด</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4</a:t>
            </a:r>
          </a:p>
        </p:txBody>
      </p:sp>
      <p:sp>
        <p:nvSpPr>
          <p:cNvPr id="7" name="Rectangle 6"/>
          <p:cNvSpPr/>
          <p:nvPr/>
        </p:nvSpPr>
        <p:spPr>
          <a:xfrm>
            <a:off x="3810000" y="1524000"/>
            <a:ext cx="3810000" cy="1016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60800" y="1574800"/>
            <a:ext cx="3708400" cy="9144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Person «abstract»</a:t>
            </a:r>
          </a:p>
          <a:p>
            <a:pPr algn="ctr">
              <a:spcAft>
                <a:spcPts val="100"/>
              </a:spcAft>
            </a:pPr>
            <a:r>
              <a:rPr sz="1400" b="0">
                <a:solidFill>
                  <a:srgbClr val="A6A6A6"/>
                </a:solidFill>
                <a:latin typeface="Sarabun"/>
                <a:ea typeface="Sarabun"/>
                <a:cs typeface="Sarabun"/>
              </a:rPr>
              <a:t>name · citizen_id · phone</a:t>
            </a:r>
          </a:p>
          <a:p>
            <a:pPr algn="ctr">
              <a:spcAft>
                <a:spcPts val="100"/>
              </a:spcAft>
            </a:pPr>
            <a:r>
              <a:rPr sz="1400" b="0">
                <a:solidFill>
                  <a:srgbClr val="FFFFFF"/>
                </a:solidFill>
                <a:latin typeface="Sarabun"/>
                <a:ea typeface="Sarabun"/>
                <a:cs typeface="Sarabun"/>
              </a:rPr>
              <a:t>display_name()* · contact_info()</a:t>
            </a:r>
          </a:p>
        </p:txBody>
      </p:sp>
      <p:sp>
        <p:nvSpPr>
          <p:cNvPr id="9" name="Rectangle 8"/>
          <p:cNvSpPr/>
          <p:nvPr/>
        </p:nvSpPr>
        <p:spPr>
          <a:xfrm>
            <a:off x="3810000" y="2984500"/>
            <a:ext cx="3810000" cy="11684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60800" y="3035300"/>
            <a:ext cx="3708400" cy="10668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SystemUser «abstract»</a:t>
            </a:r>
          </a:p>
          <a:p>
            <a:pPr algn="ctr">
              <a:spcAft>
                <a:spcPts val="100"/>
              </a:spcAft>
            </a:pPr>
            <a:r>
              <a:rPr sz="1400" b="0">
                <a:solidFill>
                  <a:srgbClr val="A6A6A6"/>
                </a:solidFill>
                <a:latin typeface="Sarabun"/>
                <a:ea typeface="Sarabun"/>
                <a:cs typeface="Sarabun"/>
              </a:rPr>
              <a:t>username · password_hash · is_active</a:t>
            </a:r>
          </a:p>
          <a:p>
            <a:pPr algn="ctr">
              <a:spcAft>
                <a:spcPts val="100"/>
              </a:spcAft>
            </a:pPr>
            <a:r>
              <a:rPr sz="1400" b="0">
                <a:solidFill>
                  <a:srgbClr val="FFFFFF"/>
                </a:solidFill>
                <a:latin typeface="Sarabun"/>
                <a:ea typeface="Sarabun"/>
                <a:cs typeface="Sarabun"/>
              </a:rPr>
              <a:t>can_view_case()* · dashboard_cards()*</a:t>
            </a:r>
          </a:p>
          <a:p>
            <a:pPr algn="ctr">
              <a:spcAft>
                <a:spcPts val="100"/>
              </a:spcAft>
            </a:pPr>
            <a:r>
              <a:rPr sz="1400" b="0">
                <a:solidFill>
                  <a:srgbClr val="FFFFFF"/>
                </a:solidFill>
                <a:latin typeface="Sarabun"/>
                <a:ea typeface="Sarabun"/>
                <a:cs typeface="Sarabun"/>
              </a:rPr>
              <a:t>home_url()*</a:t>
            </a:r>
          </a:p>
        </p:txBody>
      </p:sp>
      <p:cxnSp>
        <p:nvCxnSpPr>
          <p:cNvPr id="11" name="Connector 10"/>
          <p:cNvCxnSpPr/>
          <p:nvPr/>
        </p:nvCxnSpPr>
        <p:spPr>
          <a:xfrm flipV="1">
            <a:off x="5715000" y="2540000"/>
            <a:ext cx="0" cy="444500"/>
          </a:xfrm>
          <a:prstGeom prst="line">
            <a:avLst/>
          </a:prstGeom>
          <a:ln w="1905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762000" y="5016500"/>
            <a:ext cx="2286000" cy="660400"/>
          </a:xfrm>
          <a:prstGeom prst="rect">
            <a:avLst/>
          </a:prstGeom>
          <a:solidFill>
            <a:srgbClr val="362D4A"/>
          </a:solidFill>
          <a:ln w="15875">
            <a:solidFill>
              <a:srgbClr val="B39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5067300"/>
            <a:ext cx="2184400" cy="5588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Lawyer</a:t>
            </a:r>
          </a:p>
          <a:p>
            <a:pPr algn="ctr">
              <a:spcAft>
                <a:spcPts val="100"/>
              </a:spcAft>
            </a:pPr>
            <a:r>
              <a:rPr sz="1400" b="0">
                <a:solidFill>
                  <a:srgbClr val="FFFFFF"/>
                </a:solidFill>
                <a:latin typeface="Sarabun"/>
                <a:ea typeface="Sarabun"/>
                <a:cs typeface="Sarabun"/>
              </a:rPr>
              <a:t>+license_no</a:t>
            </a:r>
          </a:p>
        </p:txBody>
      </p:sp>
      <p:cxnSp>
        <p:nvCxnSpPr>
          <p:cNvPr id="14" name="Connector 13"/>
          <p:cNvCxnSpPr/>
          <p:nvPr/>
        </p:nvCxnSpPr>
        <p:spPr>
          <a:xfrm flipV="1">
            <a:off x="1905000" y="4635500"/>
            <a:ext cx="0" cy="38100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302000" y="5016500"/>
            <a:ext cx="2286000" cy="660400"/>
          </a:xfrm>
          <a:prstGeom prst="rect">
            <a:avLst/>
          </a:prstGeom>
          <a:solidFill>
            <a:srgbClr val="362D4A"/>
          </a:solidFill>
          <a:ln w="15875">
            <a:solidFill>
              <a:srgbClr val="B39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52800" y="5067300"/>
            <a:ext cx="2184400" cy="5588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Manager</a:t>
            </a:r>
          </a:p>
        </p:txBody>
      </p:sp>
      <p:cxnSp>
        <p:nvCxnSpPr>
          <p:cNvPr id="17" name="Connector 16"/>
          <p:cNvCxnSpPr/>
          <p:nvPr/>
        </p:nvCxnSpPr>
        <p:spPr>
          <a:xfrm flipV="1">
            <a:off x="4445000" y="4635500"/>
            <a:ext cx="0" cy="38100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842000" y="5016500"/>
            <a:ext cx="2286000" cy="660400"/>
          </a:xfrm>
          <a:prstGeom prst="rect">
            <a:avLst/>
          </a:prstGeom>
          <a:solidFill>
            <a:srgbClr val="362D4A"/>
          </a:solidFill>
          <a:ln w="15875">
            <a:solidFill>
              <a:srgbClr val="B39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2800" y="5067300"/>
            <a:ext cx="2184400" cy="5588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Admin</a:t>
            </a:r>
          </a:p>
        </p:txBody>
      </p:sp>
      <p:cxnSp>
        <p:nvCxnSpPr>
          <p:cNvPr id="20" name="Connector 19"/>
          <p:cNvCxnSpPr/>
          <p:nvPr/>
        </p:nvCxnSpPr>
        <p:spPr>
          <a:xfrm flipV="1">
            <a:off x="6985000" y="4635500"/>
            <a:ext cx="0" cy="38100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905000" y="4635500"/>
            <a:ext cx="5080000" cy="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715000" y="4152900"/>
            <a:ext cx="0" cy="482600"/>
          </a:xfrm>
          <a:prstGeom prst="line">
            <a:avLst/>
          </a:prstGeom>
          <a:ln w="1905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9144000" y="5016500"/>
            <a:ext cx="2540000" cy="6604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94800" y="5067300"/>
            <a:ext cx="2438400" cy="5588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Client</a:t>
            </a:r>
          </a:p>
          <a:p>
            <a:pPr algn="ctr">
              <a:spcAft>
                <a:spcPts val="100"/>
              </a:spcAft>
            </a:pPr>
            <a:r>
              <a:rPr sz="1400" b="0">
                <a:solidFill>
                  <a:srgbClr val="FFFFFF"/>
                </a:solidFill>
                <a:latin typeface="Sarabun"/>
                <a:ea typeface="Sarabun"/>
                <a:cs typeface="Sarabun"/>
              </a:rPr>
              <a:t>+company</a:t>
            </a:r>
          </a:p>
        </p:txBody>
      </p:sp>
      <p:cxnSp>
        <p:nvCxnSpPr>
          <p:cNvPr id="25" name="Connector 24"/>
          <p:cNvCxnSpPr/>
          <p:nvPr/>
        </p:nvCxnSpPr>
        <p:spPr>
          <a:xfrm flipV="1">
            <a:off x="10414000" y="2032000"/>
            <a:ext cx="0" cy="298450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620000" y="2032000"/>
            <a:ext cx="2794000" cy="0"/>
          </a:xfrm>
          <a:prstGeom prst="line">
            <a:avLst/>
          </a:prstGeom>
          <a:ln w="1905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28000" y="3175000"/>
            <a:ext cx="3556000" cy="762000"/>
          </a:xfrm>
          <a:prstGeom prst="rect">
            <a:avLst/>
          </a:prstGeom>
          <a:noFill/>
        </p:spPr>
        <p:txBody>
          <a:bodyPr wrap="square" anchor="t" lIns="50800" rIns="50800" tIns="25400" bIns="25400">
            <a:spAutoFit/>
          </a:bodyPr>
          <a:lstStyle/>
          <a:p>
            <a:pPr algn="l">
              <a:spcAft>
                <a:spcPts val="600"/>
              </a:spcAft>
            </a:pPr>
            <a:r>
              <a:rPr sz="1400" b="0">
                <a:solidFill>
                  <a:srgbClr val="FFFFFF"/>
                </a:solidFill>
                <a:latin typeface="Sarabun"/>
                <a:ea typeface="Sarabun"/>
                <a:cs typeface="Sarabun"/>
              </a:rPr>
              <a:t>Client ไม่ได้ล็อกอิน</a:t>
            </a:r>
          </a:p>
          <a:p>
            <a:pPr algn="l">
              <a:spcAft>
                <a:spcPts val="600"/>
              </a:spcAft>
            </a:pPr>
            <a:r>
              <a:rPr sz="1400" b="0">
                <a:solidFill>
                  <a:srgbClr val="A6A6A6"/>
                </a:solidFill>
                <a:latin typeface="Sarabun"/>
                <a:ea typeface="Sarabun"/>
                <a:cs typeface="Sarabun"/>
              </a:rPr>
              <a:t>สืบจาก Person ตรง</a:t>
            </a:r>
          </a:p>
        </p:txBody>
      </p:sp>
      <p:sp>
        <p:nvSpPr>
          <p:cNvPr id="28" name="TextBox 27"/>
          <p:cNvSpPr txBox="1"/>
          <p:nvPr/>
        </p:nvSpPr>
        <p:spPr>
          <a:xfrm>
            <a:off x="508000" y="1587500"/>
            <a:ext cx="3048000" cy="1016000"/>
          </a:xfrm>
          <a:prstGeom prst="rect">
            <a:avLst/>
          </a:prstGeom>
          <a:noFill/>
        </p:spPr>
        <p:txBody>
          <a:bodyPr wrap="square" anchor="t" lIns="50800" rIns="50800" tIns="25400" bIns="25400">
            <a:spAutoFit/>
          </a:bodyPr>
          <a:lstStyle/>
          <a:p>
            <a:pPr algn="l">
              <a:spcAft>
                <a:spcPts val="600"/>
              </a:spcAft>
            </a:pPr>
            <a:r>
              <a:rPr sz="1300" b="0">
                <a:solidFill>
                  <a:srgbClr val="A6A6A6"/>
                </a:solidFill>
                <a:latin typeface="Sarabun"/>
                <a:ea typeface="Sarabun"/>
                <a:cs typeface="Sarabun"/>
              </a:rPr>
              <a:t>* = abstract method</a:t>
            </a:r>
          </a:p>
          <a:p>
            <a:pPr algn="l">
              <a:spcAft>
                <a:spcPts val="600"/>
              </a:spcAft>
            </a:pPr>
            <a:r>
              <a:rPr sz="1300" b="0">
                <a:solidFill>
                  <a:srgbClr val="A6A6A6"/>
                </a:solidFill>
                <a:latin typeface="Sarabun"/>
                <a:ea typeface="Sarabun"/>
                <a:cs typeface="Sarabun"/>
              </a:rPr>
              <a:t>ลูกต้อง override</a:t>
            </a:r>
          </a:p>
        </p:txBody>
      </p:sp>
      <p:sp>
        <p:nvSpPr>
          <p:cNvPr id="29" name="TextBox 28"/>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domain/person.py · docs/uml.md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Case เป็นศูนย์กลาง ถือการมอบหมาย นัด และโน้ต</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CLASS DIAGRAM ฝั่งคดีและตาราง (2/2) · หัวสามเหลี่ยม = สืบทอด · เส้นธรรมดา = ความสัมพันธ์</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5</a:t>
            </a:r>
          </a:p>
        </p:txBody>
      </p:sp>
      <p:sp>
        <p:nvSpPr>
          <p:cNvPr id="7" name="Rectangle 6"/>
          <p:cNvSpPr/>
          <p:nvPr/>
        </p:nvSpPr>
        <p:spPr>
          <a:xfrm>
            <a:off x="508000" y="1498600"/>
            <a:ext cx="3429000" cy="1066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8800" y="1549400"/>
            <a:ext cx="3327400" cy="9652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CaseAssignment (−status)</a:t>
            </a:r>
          </a:p>
          <a:p>
            <a:pPr algn="ctr">
              <a:spcAft>
                <a:spcPts val="100"/>
              </a:spcAft>
            </a:pPr>
            <a:r>
              <a:rPr sz="1200" b="0">
                <a:solidFill>
                  <a:srgbClr val="FFFFFF"/>
                </a:solidFill>
                <a:latin typeface="Sarabun"/>
                <a:ea typeface="Sarabun"/>
                <a:cs typeface="Sarabun"/>
              </a:rPr>
              <a:t>accept() · decline()</a:t>
            </a:r>
          </a:p>
        </p:txBody>
      </p:sp>
      <p:sp>
        <p:nvSpPr>
          <p:cNvPr id="9" name="Rectangle 8"/>
          <p:cNvSpPr/>
          <p:nvPr/>
        </p:nvSpPr>
        <p:spPr>
          <a:xfrm>
            <a:off x="4318000" y="1498600"/>
            <a:ext cx="3556000" cy="1066800"/>
          </a:xfrm>
          <a:prstGeom prst="rect">
            <a:avLst/>
          </a:prstGeom>
          <a:solidFill>
            <a:srgbClr val="362D4A"/>
          </a:solidFill>
          <a:ln w="15875">
            <a:solidFill>
              <a:srgbClr val="B39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8800" y="1549400"/>
            <a:ext cx="3454400" cy="9652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Case (−status, −assignments)</a:t>
            </a:r>
          </a:p>
          <a:p>
            <a:pPr algn="ctr">
              <a:spcAft>
                <a:spcPts val="100"/>
              </a:spcAft>
            </a:pPr>
            <a:r>
              <a:rPr sz="1200" b="0">
                <a:solidFill>
                  <a:srgbClr val="FFFFFF"/>
                </a:solidFill>
                <a:latin typeface="Sarabun"/>
                <a:ea typeface="Sarabun"/>
                <a:cs typeface="Sarabun"/>
              </a:rPr>
              <a:t>assign_lawyer() · advance_status()</a:t>
            </a:r>
          </a:p>
        </p:txBody>
      </p:sp>
      <p:sp>
        <p:nvSpPr>
          <p:cNvPr id="11" name="Rectangle 10"/>
          <p:cNvSpPr/>
          <p:nvPr/>
        </p:nvSpPr>
        <p:spPr>
          <a:xfrm>
            <a:off x="8255000" y="1498600"/>
            <a:ext cx="3429000" cy="1066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5800" y="1549400"/>
            <a:ext cx="3327400" cy="9652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Schedule</a:t>
            </a:r>
          </a:p>
          <a:p>
            <a:pPr algn="ctr">
              <a:spcAft>
                <a:spcPts val="100"/>
              </a:spcAft>
            </a:pPr>
            <a:r>
              <a:rPr sz="1200" b="0">
                <a:solidFill>
                  <a:srgbClr val="FFFFFF"/>
                </a:solidFill>
                <a:latin typeface="Sarabun"/>
                <a:ea typeface="Sarabun"/>
                <a:cs typeface="Sarabun"/>
              </a:rPr>
              <a:t>add() · find_conflicts()</a:t>
            </a:r>
          </a:p>
        </p:txBody>
      </p:sp>
      <p:cxnSp>
        <p:nvCxnSpPr>
          <p:cNvPr id="13" name="Connector 12"/>
          <p:cNvCxnSpPr/>
          <p:nvPr/>
        </p:nvCxnSpPr>
        <p:spPr>
          <a:xfrm>
            <a:off x="3937000" y="2032000"/>
            <a:ext cx="381000" cy="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886200" y="2032000"/>
            <a:ext cx="254000" cy="254000"/>
          </a:xfrm>
          <a:prstGeom prst="rect">
            <a:avLst/>
          </a:prstGeom>
          <a:noFill/>
        </p:spPr>
        <p:txBody>
          <a:bodyPr wrap="square" anchor="t" lIns="50800" rIns="50800" tIns="25400" bIns="25400">
            <a:spAutoFit/>
          </a:bodyPr>
          <a:lstStyle/>
          <a:p>
            <a:pPr algn="l">
              <a:spcAft>
                <a:spcPts val="600"/>
              </a:spcAft>
            </a:pPr>
            <a:r>
              <a:rPr sz="1400" b="0">
                <a:solidFill>
                  <a:srgbClr val="B39DDB"/>
                </a:solidFill>
                <a:latin typeface="Sarabun"/>
                <a:ea typeface="Sarabun"/>
                <a:cs typeface="Sarabun"/>
              </a:rPr>
              <a:t>*</a:t>
            </a:r>
          </a:p>
        </p:txBody>
      </p:sp>
      <p:sp>
        <p:nvSpPr>
          <p:cNvPr id="15" name="TextBox 14"/>
          <p:cNvSpPr txBox="1"/>
          <p:nvPr/>
        </p:nvSpPr>
        <p:spPr>
          <a:xfrm>
            <a:off x="4140200" y="2032000"/>
            <a:ext cx="254000" cy="254000"/>
          </a:xfrm>
          <a:prstGeom prst="rect">
            <a:avLst/>
          </a:prstGeom>
          <a:noFill/>
        </p:spPr>
        <p:txBody>
          <a:bodyPr wrap="square" anchor="t" lIns="50800" rIns="50800" tIns="25400" bIns="25400">
            <a:spAutoFit/>
          </a:bodyPr>
          <a:lstStyle/>
          <a:p>
            <a:pPr algn="l">
              <a:spcAft>
                <a:spcPts val="600"/>
              </a:spcAft>
            </a:pPr>
            <a:r>
              <a:rPr sz="1300" b="0">
                <a:solidFill>
                  <a:srgbClr val="B39DDB"/>
                </a:solidFill>
                <a:latin typeface="Sarabun"/>
                <a:ea typeface="Sarabun"/>
                <a:cs typeface="Sarabun"/>
              </a:rPr>
              <a:t>1</a:t>
            </a:r>
          </a:p>
        </p:txBody>
      </p:sp>
      <p:sp>
        <p:nvSpPr>
          <p:cNvPr id="16" name="TextBox 15"/>
          <p:cNvSpPr txBox="1"/>
          <p:nvPr/>
        </p:nvSpPr>
        <p:spPr>
          <a:xfrm>
            <a:off x="508000" y="2590800"/>
            <a:ext cx="3429000" cy="279400"/>
          </a:xfrm>
          <a:prstGeom prst="rect">
            <a:avLst/>
          </a:prstGeom>
          <a:noFill/>
        </p:spPr>
        <p:txBody>
          <a:bodyPr wrap="square" anchor="t" lIns="50800" rIns="50800" tIns="25400" bIns="25400">
            <a:spAutoFit/>
          </a:bodyPr>
          <a:lstStyle/>
          <a:p>
            <a:pPr algn="ctr">
              <a:spcAft>
                <a:spcPts val="600"/>
              </a:spcAft>
            </a:pPr>
            <a:r>
              <a:rPr sz="1200" b="0">
                <a:solidFill>
                  <a:srgbClr val="B39DDB"/>
                </a:solidFill>
                <a:latin typeface="Sarabun"/>
                <a:ea typeface="Sarabun"/>
                <a:cs typeface="Sarabun"/>
              </a:rPr>
              <a:t>หลายรายการ ต่อ 1 Lawyer (สไลด์ 4)</a:t>
            </a:r>
          </a:p>
        </p:txBody>
      </p:sp>
      <p:cxnSp>
        <p:nvCxnSpPr>
          <p:cNvPr id="17" name="Connector 16"/>
          <p:cNvCxnSpPr/>
          <p:nvPr/>
        </p:nvCxnSpPr>
        <p:spPr>
          <a:xfrm>
            <a:off x="9969500" y="2565400"/>
            <a:ext cx="0" cy="609600"/>
          </a:xfrm>
          <a:prstGeom prst="line">
            <a:avLst/>
          </a:prstGeom>
          <a:ln w="19050">
            <a:solidFill>
              <a:srgbClr val="B39DDB"/>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33000" y="2667000"/>
            <a:ext cx="1651000" cy="279400"/>
          </a:xfrm>
          <a:prstGeom prst="rect">
            <a:avLst/>
          </a:prstGeom>
          <a:noFill/>
        </p:spPr>
        <p:txBody>
          <a:bodyPr wrap="square" anchor="t" lIns="50800" rIns="50800" tIns="25400" bIns="25400">
            <a:spAutoFit/>
          </a:bodyPr>
          <a:lstStyle/>
          <a:p>
            <a:pPr algn="l">
              <a:spcAft>
                <a:spcPts val="600"/>
              </a:spcAft>
            </a:pPr>
            <a:r>
              <a:rPr sz="1200" b="0">
                <a:solidFill>
                  <a:srgbClr val="B39DDB"/>
                </a:solidFill>
                <a:latin typeface="Sarabun"/>
                <a:ea typeface="Sarabun"/>
                <a:cs typeface="Sarabun"/>
              </a:rPr>
              <a:t>◇ ยืมลิสต์นัด</a:t>
            </a:r>
          </a:p>
        </p:txBody>
      </p:sp>
      <p:sp>
        <p:nvSpPr>
          <p:cNvPr id="19" name="Rectangle 18"/>
          <p:cNvSpPr/>
          <p:nvPr/>
        </p:nvSpPr>
        <p:spPr>
          <a:xfrm>
            <a:off x="508000" y="3048000"/>
            <a:ext cx="3429000" cy="1270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8800" y="3098800"/>
            <a:ext cx="3327400" cy="11684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Appointment «abstract»</a:t>
            </a:r>
          </a:p>
          <a:p>
            <a:pPr algn="ctr">
              <a:spcAft>
                <a:spcPts val="100"/>
              </a:spcAft>
            </a:pPr>
            <a:r>
              <a:rPr sz="1200" b="0">
                <a:solidFill>
                  <a:srgbClr val="FFFFFF"/>
                </a:solidFill>
                <a:latin typeface="Sarabun"/>
                <a:ea typeface="Sarabun"/>
                <a:cs typeface="Sarabun"/>
              </a:rPr>
              <a:t>reminder_lead_days()* · kind_label()*</a:t>
            </a:r>
          </a:p>
        </p:txBody>
      </p:sp>
      <p:sp>
        <p:nvSpPr>
          <p:cNvPr id="21" name="Rectangle 20"/>
          <p:cNvSpPr/>
          <p:nvPr/>
        </p:nvSpPr>
        <p:spPr>
          <a:xfrm>
            <a:off x="508000" y="4724400"/>
            <a:ext cx="3429000" cy="1016000"/>
          </a:xfrm>
          <a:prstGeom prst="rect">
            <a:avLst/>
          </a:prstGeom>
          <a:solidFill>
            <a:srgbClr val="362D4A"/>
          </a:solidFill>
          <a:ln w="15875">
            <a:solidFill>
              <a:srgbClr val="B39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8800" y="4775200"/>
            <a:ext cx="3327400" cy="9144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CourtHearing · ClientMeeting</a:t>
            </a:r>
          </a:p>
          <a:p>
            <a:pPr algn="ctr">
              <a:spcAft>
                <a:spcPts val="100"/>
              </a:spcAft>
            </a:pPr>
            <a:r>
              <a:rPr sz="1200" b="0">
                <a:solidFill>
                  <a:srgbClr val="FFFFFF"/>
                </a:solidFill>
                <a:latin typeface="Sarabun"/>
                <a:ea typeface="Sarabun"/>
                <a:cs typeface="Sarabun"/>
              </a:rPr>
              <a:t>FilingDeadline</a:t>
            </a:r>
          </a:p>
          <a:p>
            <a:pPr algn="ctr">
              <a:spcAft>
                <a:spcPts val="100"/>
              </a:spcAft>
            </a:pPr>
            <a:r>
              <a:rPr sz="1200" b="0">
                <a:solidFill>
                  <a:srgbClr val="A6A6A6"/>
                </a:solidFill>
                <a:latin typeface="Sarabun"/>
                <a:ea typeface="Sarabun"/>
                <a:cs typeface="Sarabun"/>
              </a:rPr>
              <a:t>นัดศาล 3 วัน · พบลูกความ 1 วัน · ยื่น 15 วัน</a:t>
            </a:r>
          </a:p>
        </p:txBody>
      </p:sp>
      <p:cxnSp>
        <p:nvCxnSpPr>
          <p:cNvPr id="23" name="Connector 22"/>
          <p:cNvCxnSpPr/>
          <p:nvPr/>
        </p:nvCxnSpPr>
        <p:spPr>
          <a:xfrm flipV="1">
            <a:off x="2222500" y="4318000"/>
            <a:ext cx="0" cy="406400"/>
          </a:xfrm>
          <a:prstGeom prst="line">
            <a:avLst/>
          </a:prstGeom>
          <a:ln w="1905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96000" y="2565400"/>
            <a:ext cx="0" cy="48260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46800" y="2590800"/>
            <a:ext cx="381000" cy="254000"/>
          </a:xfrm>
          <a:prstGeom prst="rect">
            <a:avLst/>
          </a:prstGeom>
          <a:noFill/>
        </p:spPr>
        <p:txBody>
          <a:bodyPr wrap="square" anchor="t" lIns="50800" rIns="50800" tIns="25400" bIns="25400">
            <a:spAutoFit/>
          </a:bodyPr>
          <a:lstStyle/>
          <a:p>
            <a:pPr algn="l">
              <a:spcAft>
                <a:spcPts val="600"/>
              </a:spcAft>
            </a:pPr>
            <a:r>
              <a:rPr sz="1300" b="0">
                <a:solidFill>
                  <a:srgbClr val="B39DDB"/>
                </a:solidFill>
                <a:latin typeface="Sarabun"/>
                <a:ea typeface="Sarabun"/>
                <a:cs typeface="Sarabun"/>
              </a:rPr>
              <a:t>1</a:t>
            </a:r>
          </a:p>
        </p:txBody>
      </p:sp>
      <p:sp>
        <p:nvSpPr>
          <p:cNvPr id="26" name="TextBox 25"/>
          <p:cNvSpPr txBox="1"/>
          <p:nvPr/>
        </p:nvSpPr>
        <p:spPr>
          <a:xfrm>
            <a:off x="6146800" y="2819400"/>
            <a:ext cx="381000" cy="254000"/>
          </a:xfrm>
          <a:prstGeom prst="rect">
            <a:avLst/>
          </a:prstGeom>
          <a:noFill/>
        </p:spPr>
        <p:txBody>
          <a:bodyPr wrap="square" anchor="t" lIns="50800" rIns="50800" tIns="25400" bIns="25400">
            <a:spAutoFit/>
          </a:bodyPr>
          <a:lstStyle/>
          <a:p>
            <a:pPr algn="l">
              <a:spcAft>
                <a:spcPts val="600"/>
              </a:spcAft>
            </a:pPr>
            <a:r>
              <a:rPr sz="1400" b="0">
                <a:solidFill>
                  <a:srgbClr val="B39DDB"/>
                </a:solidFill>
                <a:latin typeface="Sarabun"/>
                <a:ea typeface="Sarabun"/>
                <a:cs typeface="Sarabun"/>
              </a:rPr>
              <a:t>*</a:t>
            </a:r>
          </a:p>
        </p:txBody>
      </p:sp>
      <p:sp>
        <p:nvSpPr>
          <p:cNvPr id="27" name="Rectangle 26"/>
          <p:cNvSpPr/>
          <p:nvPr/>
        </p:nvSpPr>
        <p:spPr>
          <a:xfrm>
            <a:off x="4318000" y="3048000"/>
            <a:ext cx="3556000" cy="889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68800" y="3098800"/>
            <a:ext cx="3454400" cy="7874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CaseNote · CaseEvent</a:t>
            </a:r>
          </a:p>
          <a:p>
            <a:pPr algn="ctr">
              <a:spcAft>
                <a:spcPts val="100"/>
              </a:spcAft>
            </a:pPr>
            <a:r>
              <a:rPr sz="1200" b="0">
                <a:solidFill>
                  <a:srgbClr val="FFFFFF"/>
                </a:solidFill>
                <a:latin typeface="Sarabun"/>
                <a:ea typeface="Sarabun"/>
                <a:cs typeface="Sarabun"/>
              </a:rPr>
              <a:t>คดี 1 : * (ผูกด้วย case_id)</a:t>
            </a:r>
          </a:p>
        </p:txBody>
      </p:sp>
      <p:sp>
        <p:nvSpPr>
          <p:cNvPr id="29" name="Rectangle 28"/>
          <p:cNvSpPr/>
          <p:nvPr/>
        </p:nvSpPr>
        <p:spPr>
          <a:xfrm>
            <a:off x="4318000" y="4127500"/>
            <a:ext cx="3556000" cy="6985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68800" y="4178300"/>
            <a:ext cx="3454400" cy="5969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Client</a:t>
            </a:r>
          </a:p>
          <a:p>
            <a:pPr algn="ctr">
              <a:spcAft>
                <a:spcPts val="100"/>
              </a:spcAft>
            </a:pPr>
            <a:r>
              <a:rPr sz="1200" b="0">
                <a:solidFill>
                  <a:srgbClr val="A6A6A6"/>
                </a:solidFill>
                <a:latin typeface="Sarabun"/>
                <a:ea typeface="Sarabun"/>
                <a:cs typeface="Sarabun"/>
              </a:rPr>
              <a:t>ลูกความ 1 : คดี * (case.client)</a:t>
            </a:r>
          </a:p>
        </p:txBody>
      </p:sp>
      <p:sp>
        <p:nvSpPr>
          <p:cNvPr id="31" name="Rectangle 30"/>
          <p:cNvSpPr/>
          <p:nvPr/>
        </p:nvSpPr>
        <p:spPr>
          <a:xfrm>
            <a:off x="8255000" y="3175000"/>
            <a:ext cx="3429000" cy="1270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5800" y="3225800"/>
            <a:ext cx="3327400" cy="11684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«enum» · @dataclass</a:t>
            </a:r>
          </a:p>
          <a:p>
            <a:pPr algn="ctr">
              <a:spcAft>
                <a:spcPts val="100"/>
              </a:spcAft>
            </a:pPr>
            <a:r>
              <a:rPr sz="1200" b="0">
                <a:solidFill>
                  <a:srgbClr val="FFFFFF"/>
                </a:solidFill>
                <a:latin typeface="Sarabun"/>
                <a:ea typeface="Sarabun"/>
                <a:cs typeface="Sarabun"/>
              </a:rPr>
              <a:t>CaseStatus 7 ค่า</a:t>
            </a:r>
          </a:p>
          <a:p>
            <a:pPr algn="ctr">
              <a:spcAft>
                <a:spcPts val="100"/>
              </a:spcAft>
            </a:pPr>
            <a:r>
              <a:rPr sz="1200" b="0">
                <a:solidFill>
                  <a:srgbClr val="FFFFFF"/>
                </a:solidFill>
                <a:latin typeface="Sarabun"/>
                <a:ea typeface="Sarabun"/>
                <a:cs typeface="Sarabun"/>
              </a:rPr>
              <a:t>AssignmentStatus 4 ค่า</a:t>
            </a:r>
          </a:p>
        </p:txBody>
      </p:sp>
      <p:sp>
        <p:nvSpPr>
          <p:cNvPr id="33" name="TextBox 32"/>
          <p:cNvSpPr txBox="1"/>
          <p:nvPr/>
        </p:nvSpPr>
        <p:spPr>
          <a:xfrm>
            <a:off x="4318000" y="5016500"/>
            <a:ext cx="7366000" cy="635000"/>
          </a:xfrm>
          <a:prstGeom prst="rect">
            <a:avLst/>
          </a:prstGeom>
          <a:noFill/>
        </p:spPr>
        <p:txBody>
          <a:bodyPr wrap="square" anchor="t" lIns="50800" rIns="50800" tIns="25400" bIns="25400">
            <a:spAutoFit/>
          </a:bodyPr>
          <a:lstStyle/>
          <a:p>
            <a:pPr algn="l">
              <a:spcAft>
                <a:spcPts val="600"/>
              </a:spcAft>
            </a:pPr>
            <a:r>
              <a:rPr sz="1300" b="0">
                <a:solidFill>
                  <a:srgbClr val="B39DDB"/>
                </a:solidFill>
                <a:latin typeface="Sarabun"/>
                <a:ea typeface="Sarabun"/>
                <a:cs typeface="Sarabun"/>
              </a:rPr>
              <a:t>Case 1 : * มอบหมาย / นัด / โน้ต</a:t>
            </a:r>
          </a:p>
          <a:p>
            <a:pPr algn="l">
              <a:spcAft>
                <a:spcPts val="600"/>
              </a:spcAft>
            </a:pPr>
            <a:r>
              <a:rPr sz="1300" b="0">
                <a:solidFill>
                  <a:srgbClr val="B39DDB"/>
                </a:solidFill>
                <a:latin typeface="Sarabun"/>
                <a:ea typeface="Sarabun"/>
                <a:cs typeface="Sarabun"/>
              </a:rPr>
              <a:t>Schedule ◇ นัด * (ยืมลิสต์นัดจาก repo มาตรวจ)</a:t>
            </a:r>
          </a:p>
        </p:txBody>
      </p:sp>
      <p:sp>
        <p:nvSpPr>
          <p:cNvPr id="34" name="TextBox 33"/>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domain/case.py · assignment.py · appointment.py · schedule.py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คลาสแม่เป็น ABC: สร้างตรงไม่ได้ ลูกต้องเขียนเมธอดที่กำหนด</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ABSTRACTION · คลาสแม่กำหนดเมธอดที่ลูกต้องมี</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6</a:t>
            </a:r>
          </a:p>
        </p:txBody>
      </p:sp>
      <p:sp>
        <p:nvSpPr>
          <p:cNvPr id="7" name="TextBox 6"/>
          <p:cNvSpPr txBox="1"/>
          <p:nvPr/>
        </p:nvSpPr>
        <p:spPr>
          <a:xfrm>
            <a:off x="508000" y="1371600"/>
            <a:ext cx="11176000" cy="381000"/>
          </a:xfrm>
          <a:prstGeom prst="rect">
            <a:avLst/>
          </a:prstGeom>
          <a:noFill/>
        </p:spPr>
        <p:txBody>
          <a:bodyPr wrap="square" anchor="t" lIns="50800" rIns="50800" tIns="25400" bIns="25400">
            <a:spAutoFit/>
          </a:bodyPr>
          <a:lstStyle/>
          <a:p>
            <a:pPr algn="l">
              <a:spcAft>
                <a:spcPts val="600"/>
              </a:spcAft>
            </a:pPr>
            <a:r>
              <a:rPr sz="1800" b="1">
                <a:solidFill>
                  <a:srgbClr val="B39DDB"/>
                </a:solidFill>
                <a:latin typeface="Sarabun"/>
                <a:ea typeface="Sarabun"/>
                <a:cs typeface="Sarabun"/>
              </a:rPr>
              <a:t>คลาสแม่บอกว่าลูกต้องมีเมธอดอะไร แต่ไม่บอกว่าทำยังไง</a:t>
            </a:r>
          </a:p>
        </p:txBody>
      </p:sp>
      <p:sp>
        <p:nvSpPr>
          <p:cNvPr id="8" name="Rectangle 7"/>
          <p:cNvSpPr/>
          <p:nvPr/>
        </p:nvSpPr>
        <p:spPr>
          <a:xfrm>
            <a:off x="508000" y="1803400"/>
            <a:ext cx="5461000" cy="23495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 y="1905000"/>
            <a:ext cx="5207000" cy="2146300"/>
          </a:xfrm>
          <a:prstGeom prst="rect">
            <a:avLst/>
          </a:prstGeom>
          <a:noFill/>
        </p:spPr>
        <p:txBody>
          <a:bodyPr wrap="square" anchor="t" lIns="50800" rIns="50800" tIns="25400" bIns="25400">
            <a:spAutoFit/>
          </a:bodyPr>
          <a:lstStyle/>
          <a:p>
            <a:pPr algn="l">
              <a:spcAft>
                <a:spcPts val="200"/>
              </a:spcAft>
            </a:pPr>
            <a:r>
              <a:rPr sz="1400" b="0">
                <a:solidFill>
                  <a:srgbClr val="A6A6A6"/>
                </a:solidFill>
                <a:latin typeface="Menlo"/>
                <a:ea typeface="Sarabun"/>
                <a:cs typeface="Sarabun"/>
              </a:rPr>
              <a:t># domain/person.py:15,30</a:t>
            </a:r>
          </a:p>
          <a:p>
            <a:pPr algn="l">
              <a:spcAft>
                <a:spcPts val="200"/>
              </a:spcAft>
            </a:pPr>
            <a:r>
              <a:rPr sz="1400" b="0">
                <a:solidFill>
                  <a:srgbClr val="FFFFFF"/>
                </a:solidFill>
                <a:latin typeface="Menlo"/>
                <a:ea typeface="Sarabun"/>
                <a:cs typeface="Sarabun"/>
              </a:rPr>
              <a:t>class Person(ABC):</a:t>
            </a:r>
          </a:p>
          <a:p>
            <a:pPr algn="l">
              <a:spcAft>
                <a:spcPts val="200"/>
              </a:spcAft>
            </a:pPr>
            <a:r>
              <a:rPr sz="1400" b="0">
                <a:solidFill>
                  <a:srgbClr val="FFFFFF"/>
                </a:solidFill>
                <a:latin typeface="Menlo"/>
                <a:ea typeface="Sarabun"/>
                <a:cs typeface="Sarabun"/>
              </a:rPr>
              <a:t>    @abstractmethod</a:t>
            </a:r>
          </a:p>
          <a:p>
            <a:pPr algn="l">
              <a:spcAft>
                <a:spcPts val="200"/>
              </a:spcAft>
            </a:pPr>
            <a:r>
              <a:rPr sz="1400" b="1">
                <a:solidFill>
                  <a:srgbClr val="B39DDB"/>
                </a:solidFill>
                <a:latin typeface="Menlo"/>
                <a:ea typeface="Sarabun"/>
                <a:cs typeface="Sarabun"/>
              </a:rPr>
              <a:t>    def display_name(self): ...</a:t>
            </a:r>
          </a:p>
          <a:p>
            <a:pPr algn="l">
              <a:spcAft>
                <a:spcPts val="200"/>
              </a:spcAft>
            </a:pPr>
            <a:r>
              <a:rPr sz="1400" b="0">
                <a:solidFill>
                  <a:srgbClr val="FFFFFF"/>
                </a:solidFill>
                <a:latin typeface="Menlo"/>
                <a:ea typeface="Sarabun"/>
                <a:cs typeface="Sarabun"/>
              </a:rPr>
              <a:t/>
            </a:r>
          </a:p>
          <a:p>
            <a:pPr algn="l">
              <a:spcAft>
                <a:spcPts val="200"/>
              </a:spcAft>
            </a:pPr>
            <a:r>
              <a:rPr sz="1400" b="0">
                <a:solidFill>
                  <a:srgbClr val="FFFFFF"/>
                </a:solidFill>
                <a:latin typeface="Menlo"/>
                <a:ea typeface="Sarabun"/>
                <a:cs typeface="Sarabun"/>
              </a:rPr>
              <a:t>class SystemUser(Person):</a:t>
            </a:r>
          </a:p>
          <a:p>
            <a:pPr algn="l">
              <a:spcAft>
                <a:spcPts val="200"/>
              </a:spcAft>
            </a:pPr>
            <a:r>
              <a:rPr sz="1400" b="0">
                <a:solidFill>
                  <a:srgbClr val="FFFFFF"/>
                </a:solidFill>
                <a:latin typeface="Menlo"/>
                <a:ea typeface="Sarabun"/>
                <a:cs typeface="Sarabun"/>
              </a:rPr>
              <a:t>    @abstractmethod can_view_case()</a:t>
            </a:r>
          </a:p>
          <a:p>
            <a:pPr algn="l">
              <a:spcAft>
                <a:spcPts val="200"/>
              </a:spcAft>
            </a:pPr>
            <a:r>
              <a:rPr sz="1400" b="0">
                <a:solidFill>
                  <a:srgbClr val="FFFFFF"/>
                </a:solidFill>
                <a:latin typeface="Menlo"/>
                <a:ea typeface="Sarabun"/>
                <a:cs typeface="Sarabun"/>
              </a:rPr>
              <a:t>    @abstractmethod dashboard_cards()</a:t>
            </a:r>
          </a:p>
          <a:p>
            <a:pPr algn="l">
              <a:spcAft>
                <a:spcPts val="200"/>
              </a:spcAft>
            </a:pPr>
            <a:r>
              <a:rPr sz="1400" b="0">
                <a:solidFill>
                  <a:srgbClr val="FFFFFF"/>
                </a:solidFill>
                <a:latin typeface="Menlo"/>
                <a:ea typeface="Sarabun"/>
                <a:cs typeface="Sarabun"/>
              </a:rPr>
              <a:t>    @abstractmethod home_url()</a:t>
            </a:r>
          </a:p>
        </p:txBody>
      </p:sp>
      <p:sp>
        <p:nvSpPr>
          <p:cNvPr id="10" name="Rectangle 9"/>
          <p:cNvSpPr/>
          <p:nvPr/>
        </p:nvSpPr>
        <p:spPr>
          <a:xfrm>
            <a:off x="6223000" y="1803400"/>
            <a:ext cx="5461000" cy="23495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0" y="1905000"/>
            <a:ext cx="5207000" cy="2146300"/>
          </a:xfrm>
          <a:prstGeom prst="rect">
            <a:avLst/>
          </a:prstGeom>
          <a:noFill/>
        </p:spPr>
        <p:txBody>
          <a:bodyPr wrap="square" anchor="t" lIns="50800" rIns="50800" tIns="25400" bIns="25400">
            <a:spAutoFit/>
          </a:bodyPr>
          <a:lstStyle/>
          <a:p>
            <a:pPr algn="l">
              <a:spcAft>
                <a:spcPts val="200"/>
              </a:spcAft>
            </a:pPr>
            <a:r>
              <a:rPr sz="1400" b="0">
                <a:solidFill>
                  <a:srgbClr val="A6A6A6"/>
                </a:solidFill>
                <a:latin typeface="Menlo"/>
                <a:ea typeface="Sarabun"/>
                <a:cs typeface="Sarabun"/>
              </a:rPr>
              <a:t># domain/appointment.py:29</a:t>
            </a:r>
          </a:p>
          <a:p>
            <a:pPr algn="l">
              <a:spcAft>
                <a:spcPts val="200"/>
              </a:spcAft>
            </a:pPr>
            <a:r>
              <a:rPr sz="1400" b="0">
                <a:solidFill>
                  <a:srgbClr val="FFFFFF"/>
                </a:solidFill>
                <a:latin typeface="Menlo"/>
                <a:ea typeface="Sarabun"/>
                <a:cs typeface="Sarabun"/>
              </a:rPr>
              <a:t>class Appointment(ABC):</a:t>
            </a:r>
          </a:p>
          <a:p>
            <a:pPr algn="l">
              <a:spcAft>
                <a:spcPts val="200"/>
              </a:spcAft>
            </a:pPr>
            <a:r>
              <a:rPr sz="1400" b="0">
                <a:solidFill>
                  <a:srgbClr val="FFFFFF"/>
                </a:solidFill>
                <a:latin typeface="Menlo"/>
                <a:ea typeface="Sarabun"/>
                <a:cs typeface="Sarabun"/>
              </a:rPr>
              <a:t>    @abstractmethod</a:t>
            </a:r>
          </a:p>
          <a:p>
            <a:pPr algn="l">
              <a:spcAft>
                <a:spcPts val="200"/>
              </a:spcAft>
            </a:pPr>
            <a:r>
              <a:rPr sz="1400" b="1">
                <a:solidFill>
                  <a:srgbClr val="B39DDB"/>
                </a:solidFill>
                <a:latin typeface="Menlo"/>
                <a:ea typeface="Sarabun"/>
                <a:cs typeface="Sarabun"/>
              </a:rPr>
              <a:t>    def reminder_lead_days(self): ...</a:t>
            </a:r>
          </a:p>
          <a:p>
            <a:pPr algn="l">
              <a:spcAft>
                <a:spcPts val="200"/>
              </a:spcAft>
            </a:pPr>
            <a:r>
              <a:rPr sz="1400" b="0">
                <a:solidFill>
                  <a:srgbClr val="FFFFFF"/>
                </a:solidFill>
                <a:latin typeface="Menlo"/>
                <a:ea typeface="Sarabun"/>
                <a:cs typeface="Sarabun"/>
              </a:rPr>
              <a:t>    @abstractmethod</a:t>
            </a:r>
          </a:p>
          <a:p>
            <a:pPr algn="l">
              <a:spcAft>
                <a:spcPts val="200"/>
              </a:spcAft>
            </a:pPr>
            <a:r>
              <a:rPr sz="1400" b="0">
                <a:solidFill>
                  <a:srgbClr val="FFFFFF"/>
                </a:solidFill>
                <a:latin typeface="Menlo"/>
                <a:ea typeface="Sarabun"/>
                <a:cs typeface="Sarabun"/>
              </a:rPr>
              <a:t>    def can_reschedule(self): ...</a:t>
            </a:r>
          </a:p>
          <a:p>
            <a:pPr algn="l">
              <a:spcAft>
                <a:spcPts val="200"/>
              </a:spcAft>
            </a:pPr>
            <a:r>
              <a:rPr sz="1400" b="0">
                <a:solidFill>
                  <a:srgbClr val="FFFFFF"/>
                </a:solidFill>
                <a:latin typeface="Menlo"/>
                <a:ea typeface="Sarabun"/>
                <a:cs typeface="Sarabun"/>
              </a:rPr>
              <a:t>    @abstractmethod</a:t>
            </a:r>
          </a:p>
          <a:p>
            <a:pPr algn="l">
              <a:spcAft>
                <a:spcPts val="200"/>
              </a:spcAft>
            </a:pPr>
            <a:r>
              <a:rPr sz="1400" b="0">
                <a:solidFill>
                  <a:srgbClr val="FFFFFF"/>
                </a:solidFill>
                <a:latin typeface="Menlo"/>
                <a:ea typeface="Sarabun"/>
                <a:cs typeface="Sarabun"/>
              </a:rPr>
              <a:t>    def kind_label(self): ...</a:t>
            </a:r>
          </a:p>
        </p:txBody>
      </p:sp>
      <p:sp>
        <p:nvSpPr>
          <p:cNvPr id="12" name="Rectangle 11"/>
          <p:cNvSpPr/>
          <p:nvPr/>
        </p:nvSpPr>
        <p:spPr>
          <a:xfrm>
            <a:off x="6223000" y="4381500"/>
            <a:ext cx="5461000" cy="7874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000" y="4483100"/>
            <a:ext cx="5207000" cy="584200"/>
          </a:xfrm>
          <a:prstGeom prst="rect">
            <a:avLst/>
          </a:prstGeom>
          <a:noFill/>
        </p:spPr>
        <p:txBody>
          <a:bodyPr wrap="square" anchor="t" lIns="50800" rIns="50800" tIns="25400" bIns="25400">
            <a:spAutoFit/>
          </a:bodyPr>
          <a:lstStyle/>
          <a:p>
            <a:pPr algn="l">
              <a:spcAft>
                <a:spcPts val="200"/>
              </a:spcAft>
            </a:pPr>
            <a:r>
              <a:rPr sz="1400" b="0">
                <a:solidFill>
                  <a:srgbClr val="FFFFFF"/>
                </a:solidFill>
                <a:latin typeface="Menlo"/>
                <a:ea typeface="Sarabun"/>
                <a:cs typeface="Sarabun"/>
              </a:rPr>
              <a:t>Appointment(...)  →  TypeError:</a:t>
            </a:r>
          </a:p>
          <a:p>
            <a:pPr algn="l">
              <a:spcAft>
                <a:spcPts val="200"/>
              </a:spcAft>
            </a:pPr>
            <a:r>
              <a:rPr sz="1400" b="0">
                <a:solidFill>
                  <a:srgbClr val="FFFFFF"/>
                </a:solidFill>
                <a:latin typeface="Menlo"/>
                <a:ea typeface="Sarabun"/>
                <a:cs typeface="Sarabun"/>
              </a:rPr>
              <a:t>Can't instantiate abstract class ...</a:t>
            </a:r>
          </a:p>
        </p:txBody>
      </p:sp>
      <p:sp>
        <p:nvSpPr>
          <p:cNvPr id="14" name="TextBox 13"/>
          <p:cNvSpPr txBox="1"/>
          <p:nvPr/>
        </p:nvSpPr>
        <p:spPr>
          <a:xfrm>
            <a:off x="508000" y="4254500"/>
            <a:ext cx="5461000" cy="889000"/>
          </a:xfrm>
          <a:prstGeom prst="rect">
            <a:avLst/>
          </a:prstGeom>
          <a:noFill/>
        </p:spPr>
        <p:txBody>
          <a:bodyPr wrap="square" anchor="t" lIns="50800" rIns="50800" tIns="25400" bIns="25400">
            <a:spAutoFit/>
          </a:bodyPr>
          <a:lstStyle/>
          <a:p>
            <a:pPr algn="l">
              <a:spcAft>
                <a:spcPts val="800"/>
              </a:spcAft>
            </a:pPr>
            <a:r>
              <a:rPr sz="1600" b="0">
                <a:solidFill>
                  <a:srgbClr val="FFFFFF"/>
                </a:solidFill>
                <a:latin typeface="Sarabun"/>
                <a:ea typeface="Sarabun"/>
                <a:cs typeface="Sarabun"/>
              </a:rPr>
              <a:t>• contact_info()/overlaps() เขียนที่แม่ครั้งเดียว ลูกทุกตัวใช้ร่วมกัน</a:t>
            </a:r>
          </a:p>
        </p:txBody>
      </p:sp>
      <p:sp>
        <p:nvSpPr>
          <p:cNvPr id="15" name="Rectangle 14"/>
          <p:cNvSpPr/>
          <p:nvPr/>
        </p:nvSpPr>
        <p:spPr>
          <a:xfrm>
            <a:off x="508000" y="5232400"/>
            <a:ext cx="11176000" cy="508000"/>
          </a:xfrm>
          <a:prstGeom prst="rect">
            <a:avLst/>
          </a:prstGeom>
          <a:solidFill>
            <a:srgbClr val="36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000" y="5283200"/>
            <a:ext cx="10922000" cy="406400"/>
          </a:xfrm>
          <a:prstGeom prst="rect">
            <a:avLst/>
          </a:prstGeom>
          <a:noFill/>
        </p:spPr>
        <p:txBody>
          <a:bodyPr wrap="square" anchor="ctr" lIns="50800" rIns="50800" tIns="25400" bIns="25400">
            <a:spAutoFit/>
          </a:bodyPr>
          <a:lstStyle/>
          <a:p>
            <a:pPr algn="ctr">
              <a:spcAft>
                <a:spcPts val="600"/>
              </a:spcAft>
            </a:pPr>
            <a:r>
              <a:rPr sz="1600" b="1">
                <a:solidFill>
                  <a:srgbClr val="FFFFFF"/>
                </a:solidFill>
                <a:latin typeface="Sarabun"/>
                <a:ea typeface="Sarabun"/>
                <a:cs typeface="Sarabun"/>
              </a:rPr>
              <a:t>ผลที่ได้: สร้าง Appointment() ตรงๆ ไม่ได้ ต้องสร้างคลาสลูก</a:t>
            </a:r>
          </a:p>
        </p:txBody>
      </p:sp>
      <p:sp>
        <p:nvSpPr>
          <p:cNvPr id="17" name="TextBox 16"/>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domain/person.py · domain/appointment.py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ลูกแต่ละคลาสเติม attribute และ display_name() ของตัวเอง</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INHERITANCE · ลูกได้ของจากแม่แล้วเติมของตัวเอง</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7</a:t>
            </a:r>
          </a:p>
        </p:txBody>
      </p:sp>
      <p:sp>
        <p:nvSpPr>
          <p:cNvPr id="7" name="TextBox 6"/>
          <p:cNvSpPr txBox="1"/>
          <p:nvPr/>
        </p:nvSpPr>
        <p:spPr>
          <a:xfrm>
            <a:off x="508000" y="1371600"/>
            <a:ext cx="11176000" cy="381000"/>
          </a:xfrm>
          <a:prstGeom prst="rect">
            <a:avLst/>
          </a:prstGeom>
          <a:noFill/>
        </p:spPr>
        <p:txBody>
          <a:bodyPr wrap="square" anchor="t" lIns="50800" rIns="50800" tIns="25400" bIns="25400">
            <a:spAutoFit/>
          </a:bodyPr>
          <a:lstStyle/>
          <a:p>
            <a:pPr algn="l">
              <a:spcAft>
                <a:spcPts val="600"/>
              </a:spcAft>
            </a:pPr>
            <a:r>
              <a:rPr sz="1800" b="1">
                <a:solidFill>
                  <a:srgbClr val="B39DDB"/>
                </a:solidFill>
                <a:latin typeface="Sarabun"/>
                <a:ea typeface="Sarabun"/>
                <a:cs typeface="Sarabun"/>
              </a:rPr>
              <a:t>ลูกได้ทุกอย่างจากแม่ แล้วเติมของตัวเอง</a:t>
            </a:r>
          </a:p>
        </p:txBody>
      </p:sp>
      <p:graphicFrame>
        <p:nvGraphicFramePr>
          <p:cNvPr id="8" name="Table 7"/>
          <p:cNvGraphicFramePr>
            <a:graphicFrameLocks noGrp="1"/>
          </p:cNvGraphicFramePr>
          <p:nvPr/>
        </p:nvGraphicFramePr>
        <p:xfrm>
          <a:off x="508000" y="1879600"/>
          <a:ext cx="11176000" cy="2844800"/>
        </p:xfrm>
        <a:graphic>
          <a:graphicData uri="http://schemas.openxmlformats.org/drawingml/2006/table">
            <a:tbl>
              <a:tblPr firstRow="1" bandRow="1">
                <a:tableStyleId>{5C22544A-7EE6-4342-B048-85BDC9FD1C3A}</a:tableStyleId>
              </a:tblPr>
              <a:tblGrid>
                <a:gridCol w="3175000"/>
                <a:gridCol w="8001000"/>
              </a:tblGrid>
              <a:tr h="406400">
                <a:tc>
                  <a:txBody>
                    <a:bodyPr/>
                    <a:lstStyle/>
                    <a:p>
                      <a:r>
                        <a:rPr sz="1600" b="1">
                          <a:solidFill>
                            <a:srgbClr val="FFFFFF"/>
                          </a:solidFill>
                          <a:latin typeface="Sarabun"/>
                          <a:ea typeface="Sarabun"/>
                          <a:cs typeface="Sarabun"/>
                        </a:rPr>
                        <a:t>คลาส</a:t>
                      </a:r>
                    </a:p>
                  </a:txBody>
                  <a:tcPr marL="101600" marR="101600" marT="38100" marB="38100" anchor="ctr">
                    <a:solidFill>
                      <a:srgbClr val="000000"/>
                    </a:solidFill>
                  </a:tcPr>
                </a:tc>
                <a:tc>
                  <a:txBody>
                    <a:bodyPr/>
                    <a:lstStyle/>
                    <a:p>
                      <a:r>
                        <a:rPr sz="1600" b="1">
                          <a:solidFill>
                            <a:srgbClr val="FFFFFF"/>
                          </a:solidFill>
                          <a:latin typeface="Sarabun"/>
                          <a:ea typeface="Sarabun"/>
                          <a:cs typeface="Sarabun"/>
                        </a:rPr>
                        <a:t>ได้จากแม่ / เติมเอง</a:t>
                      </a:r>
                    </a:p>
                  </a:txBody>
                  <a:tcPr marL="101600" marR="101600" marT="38100" marB="38100" anchor="ctr">
                    <a:solidFill>
                      <a:srgbClr val="000000"/>
                    </a:solidFill>
                  </a:tcPr>
                </a:tc>
              </a:tr>
              <a:tr h="406400">
                <a:tc>
                  <a:txBody>
                    <a:bodyPr/>
                    <a:lstStyle/>
                    <a:p>
                      <a:r>
                        <a:rPr sz="1600" b="0">
                          <a:solidFill>
                            <a:srgbClr val="FFFFFF"/>
                          </a:solidFill>
                          <a:latin typeface="Sarabun"/>
                          <a:ea typeface="Sarabun"/>
                          <a:cs typeface="Sarabun"/>
                        </a:rPr>
                        <a:t>Person(ABC)</a:t>
                      </a:r>
                    </a:p>
                  </a:txBody>
                  <a:tcPr marL="101600" marR="101600" marT="38100" marB="38100" anchor="ctr">
                    <a:solidFill>
                      <a:srgbClr val="2B2B2B"/>
                    </a:solidFill>
                  </a:tcPr>
                </a:tc>
                <a:tc>
                  <a:txBody>
                    <a:bodyPr/>
                    <a:lstStyle/>
                    <a:p>
                      <a:r>
                        <a:rPr sz="1600" b="0">
                          <a:solidFill>
                            <a:srgbClr val="FFFFFF"/>
                          </a:solidFill>
                          <a:latin typeface="Sarabun"/>
                          <a:ea typeface="Sarabun"/>
                          <a:cs typeface="Sarabun"/>
                        </a:rPr>
                        <a:t>@abstractmethod display_name()</a:t>
                      </a:r>
                    </a:p>
                  </a:txBody>
                  <a:tcPr marL="101600" marR="101600" marT="38100" marB="38100" anchor="ctr">
                    <a:solidFill>
                      <a:srgbClr val="2B2B2B"/>
                    </a:solidFill>
                  </a:tcPr>
                </a:tc>
              </a:tr>
              <a:tr h="406400">
                <a:tc>
                  <a:txBody>
                    <a:bodyPr/>
                    <a:lstStyle/>
                    <a:p>
                      <a:r>
                        <a:rPr sz="1600" b="0">
                          <a:solidFill>
                            <a:srgbClr val="FFFFFF"/>
                          </a:solidFill>
                          <a:latin typeface="Sarabun"/>
                          <a:ea typeface="Sarabun"/>
                          <a:cs typeface="Sarabun"/>
                        </a:rPr>
                        <a:t>SystemUser(Person)</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username · password_hash · is_active</a:t>
                      </a:r>
                    </a:p>
                  </a:txBody>
                  <a:tcPr marL="101600" marR="101600" marT="38100" marB="38100" anchor="ctr">
                    <a:solidFill>
                      <a:srgbClr val="1E1E1E"/>
                    </a:solidFill>
                  </a:tcPr>
                </a:tc>
              </a:tr>
              <a:tr h="406400">
                <a:tc>
                  <a:txBody>
                    <a:bodyPr/>
                    <a:lstStyle/>
                    <a:p>
                      <a:r>
                        <a:rPr sz="1600" b="0">
                          <a:solidFill>
                            <a:srgbClr val="FFFFFF"/>
                          </a:solidFill>
                          <a:latin typeface="Sarabun"/>
                          <a:ea typeface="Sarabun"/>
                          <a:cs typeface="Sarabun"/>
                        </a:rPr>
                        <a:t>Lawyer(SystemUser)</a:t>
                      </a:r>
                    </a:p>
                  </a:txBody>
                  <a:tcPr marL="101600" marR="101600" marT="38100" marB="38100" anchor="ctr">
                    <a:solidFill>
                      <a:srgbClr val="2B2B2B"/>
                    </a:solidFill>
                  </a:tcPr>
                </a:tc>
                <a:tc>
                  <a:txBody>
                    <a:bodyPr/>
                    <a:lstStyle/>
                    <a:p>
                      <a:r>
                        <a:rPr sz="1600" b="1">
                          <a:solidFill>
                            <a:srgbClr val="B39DDB"/>
                          </a:solidFill>
                          <a:latin typeface="Sarabun"/>
                          <a:ea typeface="Sarabun"/>
                          <a:cs typeface="Sarabun"/>
                        </a:rPr>
                        <a:t>+ license_no · display_name() → "ทนาย…"</a:t>
                      </a:r>
                    </a:p>
                  </a:txBody>
                  <a:tcPr marL="101600" marR="101600" marT="38100" marB="38100" anchor="ctr">
                    <a:solidFill>
                      <a:srgbClr val="2B2B2B"/>
                    </a:solidFill>
                  </a:tcPr>
                </a:tc>
              </a:tr>
              <a:tr h="406400">
                <a:tc>
                  <a:txBody>
                    <a:bodyPr/>
                    <a:lstStyle/>
                    <a:p>
                      <a:r>
                        <a:rPr sz="1600" b="0">
                          <a:solidFill>
                            <a:srgbClr val="FFFFFF"/>
                          </a:solidFill>
                          <a:latin typeface="Sarabun"/>
                          <a:ea typeface="Sarabun"/>
                          <a:cs typeface="Sarabun"/>
                        </a:rPr>
                        <a:t>Manager(SystemUser)</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display_name() → "ผู้จัดการ…"</a:t>
                      </a:r>
                    </a:p>
                  </a:txBody>
                  <a:tcPr marL="101600" marR="101600" marT="38100" marB="38100" anchor="ctr">
                    <a:solidFill>
                      <a:srgbClr val="1E1E1E"/>
                    </a:solidFill>
                  </a:tcPr>
                </a:tc>
              </a:tr>
              <a:tr h="406400">
                <a:tc>
                  <a:txBody>
                    <a:bodyPr/>
                    <a:lstStyle/>
                    <a:p>
                      <a:r>
                        <a:rPr sz="1600" b="0">
                          <a:solidFill>
                            <a:srgbClr val="FFFFFF"/>
                          </a:solidFill>
                          <a:latin typeface="Sarabun"/>
                          <a:ea typeface="Sarabun"/>
                          <a:cs typeface="Sarabun"/>
                        </a:rPr>
                        <a:t>Admin(SystemUser)</a:t>
                      </a:r>
                    </a:p>
                  </a:txBody>
                  <a:tcPr marL="101600" marR="101600" marT="38100" marB="38100" anchor="ctr">
                    <a:solidFill>
                      <a:srgbClr val="2B2B2B"/>
                    </a:solidFill>
                  </a:tcPr>
                </a:tc>
                <a:tc>
                  <a:txBody>
                    <a:bodyPr/>
                    <a:lstStyle/>
                    <a:p>
                      <a:r>
                        <a:rPr sz="1600" b="0">
                          <a:solidFill>
                            <a:srgbClr val="FFFFFF"/>
                          </a:solidFill>
                          <a:latin typeface="Sarabun"/>
                          <a:ea typeface="Sarabun"/>
                          <a:cs typeface="Sarabun"/>
                        </a:rPr>
                        <a:t>display_name() → "ผู้ดูแลระบบ…"</a:t>
                      </a:r>
                    </a:p>
                  </a:txBody>
                  <a:tcPr marL="101600" marR="101600" marT="38100" marB="38100" anchor="ctr">
                    <a:solidFill>
                      <a:srgbClr val="2B2B2B"/>
                    </a:solidFill>
                  </a:tcPr>
                </a:tc>
              </a:tr>
              <a:tr h="406400">
                <a:tc>
                  <a:txBody>
                    <a:bodyPr/>
                    <a:lstStyle/>
                    <a:p>
                      <a:r>
                        <a:rPr sz="1600" b="0">
                          <a:solidFill>
                            <a:srgbClr val="FFFFFF"/>
                          </a:solidFill>
                          <a:latin typeface="Sarabun"/>
                          <a:ea typeface="Sarabun"/>
                          <a:cs typeface="Sarabun"/>
                        </a:rPr>
                        <a:t>Client(Person)</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 company (ลูกความไม่ได้ล็อกอิน จึงสืบจาก Person ตรง)</a:t>
                      </a:r>
                    </a:p>
                  </a:txBody>
                  <a:tcPr marL="101600" marR="101600" marT="38100" marB="38100" anchor="ctr">
                    <a:solidFill>
                      <a:srgbClr val="1E1E1E"/>
                    </a:solidFill>
                  </a:tcPr>
                </a:tc>
              </a:tr>
            </a:tbl>
          </a:graphicData>
        </a:graphic>
      </p:graphicFrame>
      <p:sp>
        <p:nvSpPr>
          <p:cNvPr id="9" name="Rectangle 8"/>
          <p:cNvSpPr/>
          <p:nvPr/>
        </p:nvSpPr>
        <p:spPr>
          <a:xfrm>
            <a:off x="508000" y="5232400"/>
            <a:ext cx="11176000" cy="660400"/>
          </a:xfrm>
          <a:prstGeom prst="rect">
            <a:avLst/>
          </a:prstGeom>
          <a:solidFill>
            <a:srgbClr val="36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 y="5283200"/>
            <a:ext cx="10922000" cy="558800"/>
          </a:xfrm>
          <a:prstGeom prst="rect">
            <a:avLst/>
          </a:prstGeom>
          <a:noFill/>
        </p:spPr>
        <p:txBody>
          <a:bodyPr wrap="square" anchor="ctr" lIns="50800" rIns="50800" tIns="25400" bIns="25400">
            <a:spAutoFit/>
          </a:bodyPr>
          <a:lstStyle/>
          <a:p>
            <a:pPr algn="ctr">
              <a:spcAft>
                <a:spcPts val="600"/>
              </a:spcAft>
            </a:pPr>
            <a:r>
              <a:rPr sz="1600" b="1">
                <a:solidFill>
                  <a:srgbClr val="FFFFFF"/>
                </a:solidFill>
                <a:latin typeface="Sarabun"/>
                <a:ea typeface="Sarabun"/>
                <a:cs typeface="Sarabun"/>
              </a:rPr>
              <a:t>ผลที่ได้: Lawyer มี name/phone โดยไม่ต้องเขียนซ้ำ · Client ไม่ใช่ SystemUser</a:t>
            </a:r>
          </a:p>
        </p:txBody>
      </p:sp>
      <p:sp>
        <p:nvSpPr>
          <p:cNvPr id="11" name="TextBox 10"/>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domain/person.py:15,30,50,75,90,105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เรียก home_url() ชื่อเดียว ได้หน้าแรกตามบทบาท</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POLYMORPHISM · เรียกเมธอดเดียว ได้พฤติกรรมตามชนิด</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8</a:t>
            </a:r>
          </a:p>
        </p:txBody>
      </p:sp>
      <p:sp>
        <p:nvSpPr>
          <p:cNvPr id="7" name="TextBox 6"/>
          <p:cNvSpPr txBox="1"/>
          <p:nvPr/>
        </p:nvSpPr>
        <p:spPr>
          <a:xfrm>
            <a:off x="508000" y="1371600"/>
            <a:ext cx="11176000" cy="381000"/>
          </a:xfrm>
          <a:prstGeom prst="rect">
            <a:avLst/>
          </a:prstGeom>
          <a:noFill/>
        </p:spPr>
        <p:txBody>
          <a:bodyPr wrap="square" anchor="t" lIns="50800" rIns="50800" tIns="25400" bIns="25400">
            <a:spAutoFit/>
          </a:bodyPr>
          <a:lstStyle/>
          <a:p>
            <a:pPr algn="l">
              <a:spcAft>
                <a:spcPts val="600"/>
              </a:spcAft>
            </a:pPr>
            <a:r>
              <a:rPr sz="1800" b="1">
                <a:solidFill>
                  <a:srgbClr val="B39DDB"/>
                </a:solidFill>
                <a:latin typeface="Sarabun"/>
                <a:ea typeface="Sarabun"/>
                <a:cs typeface="Sarabun"/>
              </a:rPr>
              <a:t>เรียกเมธอดชื่อเดียว แต่ละคลาสตอบไม่เหมือนกัน</a:t>
            </a:r>
          </a:p>
        </p:txBody>
      </p:sp>
      <p:sp>
        <p:nvSpPr>
          <p:cNvPr id="8" name="Rectangle 7"/>
          <p:cNvSpPr/>
          <p:nvPr/>
        </p:nvSpPr>
        <p:spPr>
          <a:xfrm>
            <a:off x="508000" y="1803400"/>
            <a:ext cx="6858000" cy="30480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 y="1905000"/>
            <a:ext cx="6604000" cy="2844800"/>
          </a:xfrm>
          <a:prstGeom prst="rect">
            <a:avLst/>
          </a:prstGeom>
          <a:noFill/>
        </p:spPr>
        <p:txBody>
          <a:bodyPr wrap="square" anchor="t" lIns="50800" rIns="50800" tIns="25400" bIns="25400">
            <a:spAutoFit/>
          </a:bodyPr>
          <a:lstStyle/>
          <a:p>
            <a:pPr algn="l">
              <a:spcAft>
                <a:spcPts val="200"/>
              </a:spcAft>
            </a:pPr>
            <a:r>
              <a:rPr sz="1400" b="0">
                <a:solidFill>
                  <a:srgbClr val="A6A6A6"/>
                </a:solidFill>
                <a:latin typeface="Menlo"/>
                <a:ea typeface="Sarabun"/>
                <a:cs typeface="Sarabun"/>
              </a:rPr>
              <a:t># domain/person.py:63,85,100</a:t>
            </a:r>
          </a:p>
          <a:p>
            <a:pPr algn="l">
              <a:spcAft>
                <a:spcPts val="200"/>
              </a:spcAft>
            </a:pPr>
            <a:r>
              <a:rPr sz="1400" b="0">
                <a:solidFill>
                  <a:srgbClr val="FFFFFF"/>
                </a:solidFill>
                <a:latin typeface="Menlo"/>
                <a:ea typeface="Sarabun"/>
                <a:cs typeface="Sarabun"/>
              </a:rPr>
              <a:t>class Lawyer(SystemUser):</a:t>
            </a:r>
          </a:p>
          <a:p>
            <a:pPr algn="l">
              <a:spcAft>
                <a:spcPts val="200"/>
              </a:spcAft>
            </a:pPr>
            <a:r>
              <a:rPr sz="1400" b="0">
                <a:solidFill>
                  <a:srgbClr val="FFFFFF"/>
                </a:solidFill>
                <a:latin typeface="Menlo"/>
                <a:ea typeface="Sarabun"/>
                <a:cs typeface="Sarabun"/>
              </a:rPr>
              <a:t>    def home_url(self) -&gt; str:</a:t>
            </a:r>
          </a:p>
          <a:p>
            <a:pPr algn="l">
              <a:spcAft>
                <a:spcPts val="200"/>
              </a:spcAft>
            </a:pPr>
            <a:r>
              <a:rPr sz="1400" b="1">
                <a:solidFill>
                  <a:srgbClr val="B39DDB"/>
                </a:solidFill>
                <a:latin typeface="Menlo"/>
                <a:ea typeface="Sarabun"/>
                <a:cs typeface="Sarabun"/>
              </a:rPr>
              <a:t>        return "/schedule/today"</a:t>
            </a:r>
          </a:p>
          <a:p>
            <a:pPr algn="l">
              <a:spcAft>
                <a:spcPts val="200"/>
              </a:spcAft>
            </a:pPr>
            <a:r>
              <a:rPr sz="1400" b="0">
                <a:solidFill>
                  <a:srgbClr val="FFFFFF"/>
                </a:solidFill>
                <a:latin typeface="Menlo"/>
                <a:ea typeface="Sarabun"/>
                <a:cs typeface="Sarabun"/>
              </a:rPr>
              <a:t>class Manager(SystemUser):</a:t>
            </a:r>
          </a:p>
          <a:p>
            <a:pPr algn="l">
              <a:spcAft>
                <a:spcPts val="200"/>
              </a:spcAft>
            </a:pPr>
            <a:r>
              <a:rPr sz="1400" b="0">
                <a:solidFill>
                  <a:srgbClr val="FFFFFF"/>
                </a:solidFill>
                <a:latin typeface="Menlo"/>
                <a:ea typeface="Sarabun"/>
                <a:cs typeface="Sarabun"/>
              </a:rPr>
              <a:t>    def home_url(self) -&gt; str:</a:t>
            </a:r>
          </a:p>
          <a:p>
            <a:pPr algn="l">
              <a:spcAft>
                <a:spcPts val="200"/>
              </a:spcAft>
            </a:pPr>
            <a:r>
              <a:rPr sz="1400" b="1">
                <a:solidFill>
                  <a:srgbClr val="B39DDB"/>
                </a:solidFill>
                <a:latin typeface="Menlo"/>
                <a:ea typeface="Sarabun"/>
                <a:cs typeface="Sarabun"/>
              </a:rPr>
              <a:t>        return "/manager/dashboard"</a:t>
            </a:r>
          </a:p>
          <a:p>
            <a:pPr algn="l">
              <a:spcAft>
                <a:spcPts val="200"/>
              </a:spcAft>
            </a:pPr>
            <a:r>
              <a:rPr sz="1400" b="0">
                <a:solidFill>
                  <a:srgbClr val="FFFFFF"/>
                </a:solidFill>
                <a:latin typeface="Menlo"/>
                <a:ea typeface="Sarabun"/>
                <a:cs typeface="Sarabun"/>
              </a:rPr>
              <a:t>class Admin(SystemUser):</a:t>
            </a:r>
          </a:p>
          <a:p>
            <a:pPr algn="l">
              <a:spcAft>
                <a:spcPts val="200"/>
              </a:spcAft>
            </a:pPr>
            <a:r>
              <a:rPr sz="1400" b="0">
                <a:solidFill>
                  <a:srgbClr val="FFFFFF"/>
                </a:solidFill>
                <a:latin typeface="Menlo"/>
                <a:ea typeface="Sarabun"/>
                <a:cs typeface="Sarabun"/>
              </a:rPr>
              <a:t>    def home_url(self) -&gt; str:</a:t>
            </a:r>
          </a:p>
          <a:p>
            <a:pPr algn="l">
              <a:spcAft>
                <a:spcPts val="200"/>
              </a:spcAft>
            </a:pPr>
            <a:r>
              <a:rPr sz="1400" b="1">
                <a:solidFill>
                  <a:srgbClr val="B39DDB"/>
                </a:solidFill>
                <a:latin typeface="Menlo"/>
                <a:ea typeface="Sarabun"/>
                <a:cs typeface="Sarabun"/>
              </a:rPr>
              <a:t>        return "/admin/dashboard"</a:t>
            </a:r>
          </a:p>
        </p:txBody>
      </p:sp>
      <p:sp>
        <p:nvSpPr>
          <p:cNvPr id="10" name="Rectangle 9"/>
          <p:cNvSpPr/>
          <p:nvPr/>
        </p:nvSpPr>
        <p:spPr>
          <a:xfrm>
            <a:off x="7620000" y="1803400"/>
            <a:ext cx="4064000" cy="13970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7000" y="1905000"/>
            <a:ext cx="3810000" cy="1193800"/>
          </a:xfrm>
          <a:prstGeom prst="rect">
            <a:avLst/>
          </a:prstGeom>
          <a:noFill/>
        </p:spPr>
        <p:txBody>
          <a:bodyPr wrap="square" anchor="t" lIns="50800" rIns="50800" tIns="25400" bIns="25400">
            <a:spAutoFit/>
          </a:bodyPr>
          <a:lstStyle/>
          <a:p>
            <a:pPr algn="l">
              <a:spcAft>
                <a:spcPts val="200"/>
              </a:spcAft>
            </a:pPr>
            <a:r>
              <a:rPr sz="1600" b="0">
                <a:solidFill>
                  <a:srgbClr val="A6A6A6"/>
                </a:solidFill>
                <a:latin typeface="Menlo"/>
                <a:ea typeface="Sarabun"/>
                <a:cs typeface="Sarabun"/>
              </a:rPr>
              <a:t># api/routes/dashboard.py</a:t>
            </a:r>
          </a:p>
          <a:p>
            <a:pPr algn="l">
              <a:spcAft>
                <a:spcPts val="200"/>
              </a:spcAft>
            </a:pPr>
            <a:r>
              <a:rPr sz="1600" b="0">
                <a:solidFill>
                  <a:srgbClr val="FFFFFF"/>
                </a:solidFill>
                <a:latin typeface="Menlo"/>
                <a:ea typeface="Sarabun"/>
                <a:cs typeface="Sarabun"/>
              </a:rPr>
              <a:t>return RedirectResponse(</a:t>
            </a:r>
          </a:p>
          <a:p>
            <a:pPr algn="l">
              <a:spcAft>
                <a:spcPts val="200"/>
              </a:spcAft>
            </a:pPr>
            <a:r>
              <a:rPr sz="1600" b="0">
                <a:solidFill>
                  <a:srgbClr val="FFFFFF"/>
                </a:solidFill>
                <a:latin typeface="Menlo"/>
                <a:ea typeface="Sarabun"/>
                <a:cs typeface="Sarabun"/>
              </a:rPr>
              <a:t>    current_user.home_url())</a:t>
            </a:r>
          </a:p>
        </p:txBody>
      </p:sp>
      <p:sp>
        <p:nvSpPr>
          <p:cNvPr id="12" name="Rectangle 11"/>
          <p:cNvSpPr/>
          <p:nvPr/>
        </p:nvSpPr>
        <p:spPr>
          <a:xfrm>
            <a:off x="508000" y="5029200"/>
            <a:ext cx="11176000" cy="558800"/>
          </a:xfrm>
          <a:prstGeom prst="rect">
            <a:avLst/>
          </a:prstGeom>
          <a:solidFill>
            <a:srgbClr val="36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00" y="5080000"/>
            <a:ext cx="10922000" cy="457200"/>
          </a:xfrm>
          <a:prstGeom prst="rect">
            <a:avLst/>
          </a:prstGeom>
          <a:noFill/>
        </p:spPr>
        <p:txBody>
          <a:bodyPr wrap="square" anchor="ctr" lIns="50800" rIns="50800" tIns="25400" bIns="25400">
            <a:spAutoFit/>
          </a:bodyPr>
          <a:lstStyle/>
          <a:p>
            <a:pPr algn="ctr">
              <a:spcAft>
                <a:spcPts val="600"/>
              </a:spcAft>
            </a:pPr>
            <a:r>
              <a:rPr sz="1600" b="1">
                <a:solidFill>
                  <a:srgbClr val="FFFFFF"/>
                </a:solidFill>
                <a:latin typeface="Sarabun"/>
                <a:ea typeface="Sarabun"/>
                <a:cs typeface="Sarabun"/>
              </a:rPr>
              <a:t>ผลที่ได้: home_url() บรรทัดเดียว ได้หน้าแรก 3 แบบ (ดูภาพหน้า 3)</a:t>
            </a:r>
          </a:p>
        </p:txBody>
      </p:sp>
      <p:sp>
        <p:nvSpPr>
          <p:cNvPr id="14" name="TextBox 13"/>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domain/person.py · api/routes/dashboard.py (ตัดบางบรรทัด)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เปลี่ยนสถานะได้ผ่านเมธอดที่ตรวจกฎเท่านั้น</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ENCAPSULATION · แก้สถานะตรงจากข้างนอกไม่ได้</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9</a:t>
            </a:r>
          </a:p>
        </p:txBody>
      </p:sp>
      <p:sp>
        <p:nvSpPr>
          <p:cNvPr id="7" name="TextBox 6"/>
          <p:cNvSpPr txBox="1"/>
          <p:nvPr/>
        </p:nvSpPr>
        <p:spPr>
          <a:xfrm>
            <a:off x="508000" y="1371600"/>
            <a:ext cx="11176000" cy="381000"/>
          </a:xfrm>
          <a:prstGeom prst="rect">
            <a:avLst/>
          </a:prstGeom>
          <a:noFill/>
        </p:spPr>
        <p:txBody>
          <a:bodyPr wrap="square" anchor="t" lIns="50800" rIns="50800" tIns="25400" bIns="25400">
            <a:spAutoFit/>
          </a:bodyPr>
          <a:lstStyle/>
          <a:p>
            <a:pPr algn="l">
              <a:spcAft>
                <a:spcPts val="600"/>
              </a:spcAft>
            </a:pPr>
            <a:r>
              <a:rPr sz="1800" b="1">
                <a:solidFill>
                  <a:srgbClr val="B39DDB"/>
                </a:solidFill>
                <a:latin typeface="Sarabun"/>
                <a:ea typeface="Sarabun"/>
                <a:cs typeface="Sarabun"/>
              </a:rPr>
              <a:t>ข้อมูลสำคัญแก้ได้ผ่านเมธอดที่ตรวจกฎเท่านั้น</a:t>
            </a:r>
          </a:p>
        </p:txBody>
      </p:sp>
      <p:sp>
        <p:nvSpPr>
          <p:cNvPr id="8" name="Rectangle 7"/>
          <p:cNvSpPr/>
          <p:nvPr/>
        </p:nvSpPr>
        <p:spPr>
          <a:xfrm>
            <a:off x="508000" y="1803400"/>
            <a:ext cx="5588000" cy="20955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 y="1905000"/>
            <a:ext cx="5334000" cy="1892300"/>
          </a:xfrm>
          <a:prstGeom prst="rect">
            <a:avLst/>
          </a:prstGeom>
          <a:noFill/>
        </p:spPr>
        <p:txBody>
          <a:bodyPr wrap="square" anchor="t" lIns="50800" rIns="50800" tIns="25400" bIns="25400">
            <a:spAutoFit/>
          </a:bodyPr>
          <a:lstStyle/>
          <a:p>
            <a:pPr algn="l">
              <a:spcAft>
                <a:spcPts val="200"/>
              </a:spcAft>
            </a:pPr>
            <a:r>
              <a:rPr sz="1200" b="0">
                <a:solidFill>
                  <a:srgbClr val="A6A6A6"/>
                </a:solidFill>
                <a:latin typeface="Menlo"/>
                <a:ea typeface="Sarabun"/>
                <a:cs typeface="Sarabun"/>
              </a:rPr>
              <a:t># domain/case.py</a:t>
            </a:r>
          </a:p>
          <a:p>
            <a:pPr algn="l">
              <a:spcAft>
                <a:spcPts val="200"/>
              </a:spcAft>
            </a:pPr>
            <a:r>
              <a:rPr sz="1200" b="0">
                <a:solidFill>
                  <a:srgbClr val="FFFFFF"/>
                </a:solidFill>
                <a:latin typeface="Menlo"/>
                <a:ea typeface="Sarabun"/>
                <a:cs typeface="Sarabun"/>
              </a:rPr>
              <a:t>_status: CaseStatus = field(...OPEN...)</a:t>
            </a:r>
          </a:p>
          <a:p>
            <a:pPr algn="l">
              <a:spcAft>
                <a:spcPts val="200"/>
              </a:spcAft>
            </a:pPr>
            <a:r>
              <a:rPr sz="1200" b="0">
                <a:solidFill>
                  <a:srgbClr val="FFFFFF"/>
                </a:solidFill>
                <a:latin typeface="Menlo"/>
                <a:ea typeface="Sarabun"/>
                <a:cs typeface="Sarabun"/>
              </a:rPr>
              <a:t>@property</a:t>
            </a:r>
          </a:p>
          <a:p>
            <a:pPr algn="l">
              <a:spcAft>
                <a:spcPts val="200"/>
              </a:spcAft>
            </a:pPr>
            <a:r>
              <a:rPr sz="1200" b="0">
                <a:solidFill>
                  <a:srgbClr val="FFFFFF"/>
                </a:solidFill>
                <a:latin typeface="Menlo"/>
                <a:ea typeface="Sarabun"/>
                <a:cs typeface="Sarabun"/>
              </a:rPr>
              <a:t>def status(self): ...</a:t>
            </a:r>
          </a:p>
          <a:p>
            <a:pPr algn="l">
              <a:spcAft>
                <a:spcPts val="200"/>
              </a:spcAft>
            </a:pPr>
            <a:r>
              <a:rPr sz="1200" b="0">
                <a:solidFill>
                  <a:srgbClr val="A6A6A6"/>
                </a:solidFill>
                <a:latin typeface="Menlo"/>
                <a:ea typeface="Sarabun"/>
                <a:cs typeface="Sarabun"/>
              </a:rPr>
              <a:t>    # ไม่มี setter: แก้ตรงได้ AttributeError</a:t>
            </a:r>
          </a:p>
          <a:p>
            <a:pPr algn="l">
              <a:spcAft>
                <a:spcPts val="200"/>
              </a:spcAft>
            </a:pPr>
            <a:r>
              <a:rPr sz="1200" b="0">
                <a:solidFill>
                  <a:srgbClr val="FFFFFF"/>
                </a:solidFill>
                <a:latin typeface="Menlo"/>
                <a:ea typeface="Sarabun"/>
                <a:cs typeface="Sarabun"/>
              </a:rPr>
              <a:t>def advance_status(self, ...):</a:t>
            </a:r>
          </a:p>
          <a:p>
            <a:pPr algn="l">
              <a:spcAft>
                <a:spcPts val="200"/>
              </a:spcAft>
            </a:pPr>
            <a:r>
              <a:rPr sz="1200" b="0">
                <a:solidFill>
                  <a:srgbClr val="A6A6A6"/>
                </a:solidFill>
                <a:latin typeface="Menlo"/>
                <a:ea typeface="Sarabun"/>
                <a:cs typeface="Sarabun"/>
              </a:rPr>
              <a:t>    # ตรวจกฎก่อนเปลี่ยนสถานะ</a:t>
            </a:r>
          </a:p>
          <a:p>
            <a:pPr algn="l">
              <a:spcAft>
                <a:spcPts val="200"/>
              </a:spcAft>
            </a:pPr>
            <a:r>
              <a:rPr sz="1200" b="1">
                <a:solidFill>
                  <a:srgbClr val="B39DDB"/>
                </a:solidFill>
                <a:latin typeface="Menlo"/>
                <a:ea typeface="Sarabun"/>
                <a:cs typeface="Sarabun"/>
              </a:rPr>
              <a:t>    self._status = new_status</a:t>
            </a:r>
          </a:p>
        </p:txBody>
      </p:sp>
      <p:sp>
        <p:nvSpPr>
          <p:cNvPr id="10" name="Rectangle 9"/>
          <p:cNvSpPr/>
          <p:nvPr/>
        </p:nvSpPr>
        <p:spPr>
          <a:xfrm>
            <a:off x="508000" y="4025900"/>
            <a:ext cx="5588000" cy="12700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4127500"/>
            <a:ext cx="5334000" cy="1066800"/>
          </a:xfrm>
          <a:prstGeom prst="rect">
            <a:avLst/>
          </a:prstGeom>
          <a:noFill/>
        </p:spPr>
        <p:txBody>
          <a:bodyPr wrap="square" anchor="t" lIns="50800" rIns="50800" tIns="25400" bIns="25400">
            <a:spAutoFit/>
          </a:bodyPr>
          <a:lstStyle/>
          <a:p>
            <a:pPr algn="l">
              <a:spcAft>
                <a:spcPts val="200"/>
              </a:spcAft>
            </a:pPr>
            <a:r>
              <a:rPr sz="1200" b="0">
                <a:solidFill>
                  <a:srgbClr val="A6A6A6"/>
                </a:solidFill>
                <a:latin typeface="Menlo"/>
                <a:ea typeface="Sarabun"/>
                <a:cs typeface="Sarabun"/>
              </a:rPr>
              <a:t># domain/assignment.py</a:t>
            </a:r>
          </a:p>
          <a:p>
            <a:pPr algn="l">
              <a:spcAft>
                <a:spcPts val="200"/>
              </a:spcAft>
            </a:pPr>
            <a:r>
              <a:rPr sz="1200" b="0">
                <a:solidFill>
                  <a:srgbClr val="FFFFFF"/>
                </a:solidFill>
                <a:latin typeface="Menlo"/>
                <a:ea typeface="Sarabun"/>
                <a:cs typeface="Sarabun"/>
              </a:rPr>
              <a:t>def accept(self):</a:t>
            </a:r>
          </a:p>
          <a:p>
            <a:pPr algn="l">
              <a:spcAft>
                <a:spcPts val="200"/>
              </a:spcAft>
            </a:pPr>
            <a:r>
              <a:rPr sz="1200" b="0">
                <a:solidFill>
                  <a:srgbClr val="A6A6A6"/>
                </a:solidFill>
                <a:latin typeface="Menlo"/>
                <a:ea typeface="Sarabun"/>
                <a:cs typeface="Sarabun"/>
              </a:rPr>
              <a:t>    # ตรวจว่ายังรอตอบรับอยู่</a:t>
            </a:r>
          </a:p>
          <a:p>
            <a:pPr algn="l">
              <a:spcAft>
                <a:spcPts val="200"/>
              </a:spcAft>
            </a:pPr>
            <a:r>
              <a:rPr sz="1200" b="1">
                <a:solidFill>
                  <a:srgbClr val="B39DDB"/>
                </a:solidFill>
                <a:latin typeface="Menlo"/>
                <a:ea typeface="Sarabun"/>
                <a:cs typeface="Sarabun"/>
              </a:rPr>
              <a:t>    self._status = AssignmentStatus.ACCEPTED</a:t>
            </a:r>
          </a:p>
        </p:txBody>
      </p:sp>
      <p:sp>
        <p:nvSpPr>
          <p:cNvPr id="12" name="TextBox 11"/>
          <p:cNvSpPr txBox="1"/>
          <p:nvPr/>
        </p:nvSpPr>
        <p:spPr>
          <a:xfrm>
            <a:off x="6350000" y="4699000"/>
            <a:ext cx="5334000" cy="533400"/>
          </a:xfrm>
          <a:prstGeom prst="rect">
            <a:avLst/>
          </a:prstGeom>
          <a:noFill/>
        </p:spPr>
        <p:txBody>
          <a:bodyPr wrap="square" anchor="t" lIns="50800" rIns="50800" tIns="25400" bIns="25400">
            <a:spAutoFit/>
          </a:bodyPr>
          <a:lstStyle/>
          <a:p>
            <a:pPr algn="l">
              <a:spcAft>
                <a:spcPts val="600"/>
              </a:spcAft>
            </a:pPr>
            <a:r>
              <a:rPr sz="1300" b="0">
                <a:solidFill>
                  <a:srgbClr val="A6A6A6"/>
                </a:solidFill>
                <a:latin typeface="Sarabun"/>
                <a:ea typeface="Sarabun"/>
                <a:cs typeface="Sarabun"/>
              </a:rPr>
              <a:t>ข้อยกเว้น: repository ตั้ง _status ตอนโหลดแถวเดิมจาก DB (ผ่านกฎมาแล้วตอนบันทึก)</a:t>
            </a:r>
          </a:p>
        </p:txBody>
      </p:sp>
      <p:sp>
        <p:nvSpPr>
          <p:cNvPr id="13" name="Rectangle 12"/>
          <p:cNvSpPr/>
          <p:nvPr/>
        </p:nvSpPr>
        <p:spPr>
          <a:xfrm>
            <a:off x="6330950" y="1915221"/>
            <a:ext cx="5372100" cy="538357"/>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ase_status_head.png"/>
          <p:cNvPicPr>
            <a:picLocks noChangeAspect="1"/>
          </p:cNvPicPr>
          <p:nvPr/>
        </p:nvPicPr>
        <p:blipFill>
          <a:blip r:embed="rId3"/>
          <a:srcRect r="40000"/>
          <a:stretch>
            <a:fillRect/>
          </a:stretch>
        </p:blipFill>
        <p:spPr>
          <a:xfrm>
            <a:off x="6350000" y="1934271"/>
            <a:ext cx="5334000" cy="500257"/>
          </a:xfrm>
          <a:prstGeom prst="rect">
            <a:avLst/>
          </a:prstGeom>
        </p:spPr>
      </p:pic>
      <p:sp>
        <p:nvSpPr>
          <p:cNvPr id="15" name="Rectangle 14"/>
          <p:cNvSpPr/>
          <p:nvPr/>
        </p:nvSpPr>
        <p:spPr>
          <a:xfrm>
            <a:off x="6330950" y="2719189"/>
            <a:ext cx="5372100" cy="1813321"/>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ase_status_panel.png"/>
          <p:cNvPicPr>
            <a:picLocks noChangeAspect="1"/>
          </p:cNvPicPr>
          <p:nvPr/>
        </p:nvPicPr>
        <p:blipFill>
          <a:blip r:embed="rId4"/>
          <a:srcRect b="70000"/>
          <a:stretch>
            <a:fillRect/>
          </a:stretch>
        </p:blipFill>
        <p:spPr>
          <a:xfrm>
            <a:off x="6350000" y="2738239"/>
            <a:ext cx="5334000" cy="1775221"/>
          </a:xfrm>
          <a:prstGeom prst="rect">
            <a:avLst/>
          </a:prstGeom>
        </p:spPr>
      </p:pic>
      <p:sp>
        <p:nvSpPr>
          <p:cNvPr id="17" name="Rectangle 16"/>
          <p:cNvSpPr/>
          <p:nvPr/>
        </p:nvSpPr>
        <p:spPr>
          <a:xfrm>
            <a:off x="508000" y="5334000"/>
            <a:ext cx="11176000" cy="508000"/>
          </a:xfrm>
          <a:prstGeom prst="rect">
            <a:avLst/>
          </a:prstGeom>
          <a:solidFill>
            <a:srgbClr val="36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5384800"/>
            <a:ext cx="10922000" cy="406400"/>
          </a:xfrm>
          <a:prstGeom prst="rect">
            <a:avLst/>
          </a:prstGeom>
          <a:noFill/>
        </p:spPr>
        <p:txBody>
          <a:bodyPr wrap="square" anchor="ctr" lIns="50800" rIns="50800" tIns="25400" bIns="25400">
            <a:spAutoFit/>
          </a:bodyPr>
          <a:lstStyle/>
          <a:p>
            <a:pPr algn="ctr">
              <a:spcAft>
                <a:spcPts val="600"/>
              </a:spcAft>
            </a:pPr>
            <a:r>
              <a:rPr sz="1600" b="1">
                <a:solidFill>
                  <a:srgbClr val="FFFFFF"/>
                </a:solidFill>
                <a:latin typeface="Sarabun"/>
                <a:ea typeface="Sarabun"/>
                <a:cs typeface="Sarabun"/>
              </a:rPr>
              <a:t>ผลที่ได้: ข้ามขั้นไม่ได้ ปุ่มเสนอแค่ขั้นถัดไป "ตัดสิน"</a:t>
            </a:r>
          </a:p>
        </p:txBody>
      </p:sp>
      <p:sp>
        <p:nvSpPr>
          <p:cNvPr id="19" name="TextBox 18"/>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domain/case.py · domain/assignment.py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DomainError กับลูก 4 ชนิด · api แปลเป็นข้อความไทย</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EXCEPTION HIERARCHY · แยก error ตามกลุ่มกฎ</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10</a:t>
            </a:r>
          </a:p>
        </p:txBody>
      </p:sp>
      <p:sp>
        <p:nvSpPr>
          <p:cNvPr id="7" name="Rectangle 6"/>
          <p:cNvSpPr/>
          <p:nvPr/>
        </p:nvSpPr>
        <p:spPr>
          <a:xfrm>
            <a:off x="508000" y="1549400"/>
            <a:ext cx="5461000" cy="19685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000" y="1651000"/>
            <a:ext cx="5207000" cy="1765300"/>
          </a:xfrm>
          <a:prstGeom prst="rect">
            <a:avLst/>
          </a:prstGeom>
          <a:noFill/>
        </p:spPr>
        <p:txBody>
          <a:bodyPr wrap="square" anchor="t" lIns="50800" rIns="50800" tIns="25400" bIns="25400">
            <a:spAutoFit/>
          </a:bodyPr>
          <a:lstStyle/>
          <a:p>
            <a:pPr algn="l">
              <a:spcAft>
                <a:spcPts val="200"/>
              </a:spcAft>
            </a:pPr>
            <a:r>
              <a:rPr sz="1300" b="0">
                <a:solidFill>
                  <a:srgbClr val="FFFFFF"/>
                </a:solidFill>
                <a:latin typeface="Menlo"/>
                <a:ea typeface="Sarabun"/>
                <a:cs typeface="Sarabun"/>
              </a:rPr>
              <a:t>DomainError (แม่)</a:t>
            </a:r>
          </a:p>
          <a:p>
            <a:pPr algn="l">
              <a:spcAft>
                <a:spcPts val="200"/>
              </a:spcAft>
            </a:pPr>
            <a:r>
              <a:rPr sz="1300" b="0">
                <a:solidFill>
                  <a:srgbClr val="FFFFFF"/>
                </a:solidFill>
                <a:latin typeface="Menlo"/>
                <a:ea typeface="Sarabun"/>
                <a:cs typeface="Sarabun"/>
              </a:rPr>
              <a:t>├ ScheduleConflictError  นัดเวลาชนกัน</a:t>
            </a:r>
          </a:p>
          <a:p>
            <a:pPr algn="l">
              <a:spcAft>
                <a:spcPts val="200"/>
              </a:spcAft>
            </a:pPr>
            <a:r>
              <a:rPr sz="1300" b="0">
                <a:solidFill>
                  <a:srgbClr val="FFFFFF"/>
                </a:solidFill>
                <a:latin typeface="Menlo"/>
                <a:ea typeface="Sarabun"/>
                <a:cs typeface="Sarabun"/>
              </a:rPr>
              <a:t>├ InvalidStatusTransition  ข้ามขั้นสถานะ</a:t>
            </a:r>
          </a:p>
          <a:p>
            <a:pPr algn="l">
              <a:spcAft>
                <a:spcPts val="200"/>
              </a:spcAft>
            </a:pPr>
            <a:r>
              <a:rPr sz="1300" b="0">
                <a:solidFill>
                  <a:srgbClr val="FFFFFF"/>
                </a:solidFill>
                <a:latin typeface="Menlo"/>
                <a:ea typeface="Sarabun"/>
                <a:cs typeface="Sarabun"/>
              </a:rPr>
              <a:t>├ RescheduleNotAllowed  เลื่อนนัดไม่ได้</a:t>
            </a:r>
          </a:p>
          <a:p>
            <a:pPr algn="l">
              <a:spcAft>
                <a:spcPts val="200"/>
              </a:spcAft>
            </a:pPr>
            <a:r>
              <a:rPr sz="1300" b="0">
                <a:solidFill>
                  <a:srgbClr val="FFFFFF"/>
                </a:solidFill>
                <a:latin typeface="Menlo"/>
                <a:ea typeface="Sarabun"/>
                <a:cs typeface="Sarabun"/>
              </a:rPr>
              <a:t>└ AssignmentError  มอบหมาย/รับคดีผิดกฎ</a:t>
            </a:r>
          </a:p>
        </p:txBody>
      </p:sp>
      <p:sp>
        <p:nvSpPr>
          <p:cNvPr id="9" name="Rectangle 8"/>
          <p:cNvSpPr/>
          <p:nvPr/>
        </p:nvSpPr>
        <p:spPr>
          <a:xfrm>
            <a:off x="6223000" y="1549400"/>
            <a:ext cx="5461000" cy="10668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0" y="1651000"/>
            <a:ext cx="5207000" cy="863600"/>
          </a:xfrm>
          <a:prstGeom prst="rect">
            <a:avLst/>
          </a:prstGeom>
          <a:noFill/>
        </p:spPr>
        <p:txBody>
          <a:bodyPr wrap="square" anchor="t" lIns="50800" rIns="50800" tIns="25400" bIns="25400">
            <a:spAutoFit/>
          </a:bodyPr>
          <a:lstStyle/>
          <a:p>
            <a:pPr algn="l">
              <a:spcAft>
                <a:spcPts val="200"/>
              </a:spcAft>
            </a:pPr>
            <a:r>
              <a:rPr sz="1400" b="0">
                <a:solidFill>
                  <a:srgbClr val="FFFFFF"/>
                </a:solidFill>
                <a:latin typeface="Menlo"/>
                <a:ea typeface="Sarabun"/>
                <a:cs typeface="Sarabun"/>
              </a:rPr>
              <a:t>try: schedule.add(appt)</a:t>
            </a:r>
          </a:p>
          <a:p>
            <a:pPr algn="l">
              <a:spcAft>
                <a:spcPts val="200"/>
              </a:spcAft>
            </a:pPr>
            <a:r>
              <a:rPr sz="1400" b="0">
                <a:solidFill>
                  <a:srgbClr val="FFFFFF"/>
                </a:solidFill>
                <a:latin typeface="Menlo"/>
                <a:ea typeface="Sarabun"/>
                <a:cs typeface="Sarabun"/>
              </a:rPr>
              <a:t>except ScheduleConflictError as e:</a:t>
            </a:r>
          </a:p>
          <a:p>
            <a:pPr algn="l">
              <a:spcAft>
                <a:spcPts val="200"/>
              </a:spcAft>
            </a:pPr>
            <a:r>
              <a:rPr sz="1400" b="0">
                <a:solidFill>
                  <a:srgbClr val="FFFFFF"/>
                </a:solidFill>
                <a:latin typeface="Menlo"/>
                <a:ea typeface="Sarabun"/>
                <a:cs typeface="Sarabun"/>
              </a:rPr>
              <a:t>    → ฟอร์มเดิม + "นัดชน…"</a:t>
            </a:r>
          </a:p>
        </p:txBody>
      </p:sp>
      <p:sp>
        <p:nvSpPr>
          <p:cNvPr id="11" name="Rectangle 10"/>
          <p:cNvSpPr/>
          <p:nvPr/>
        </p:nvSpPr>
        <p:spPr>
          <a:xfrm>
            <a:off x="6223000" y="2692400"/>
            <a:ext cx="5461000" cy="9398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2794000"/>
            <a:ext cx="5207000" cy="736600"/>
          </a:xfrm>
          <a:prstGeom prst="rect">
            <a:avLst/>
          </a:prstGeom>
          <a:noFill/>
        </p:spPr>
        <p:txBody>
          <a:bodyPr wrap="square" anchor="t" lIns="50800" rIns="50800" tIns="25400" bIns="25400">
            <a:spAutoFit/>
          </a:bodyPr>
          <a:lstStyle/>
          <a:p>
            <a:pPr algn="l">
              <a:spcAft>
                <a:spcPts val="200"/>
              </a:spcAft>
            </a:pPr>
            <a:r>
              <a:rPr sz="1400" b="0">
                <a:solidFill>
                  <a:srgbClr val="FFFFFF"/>
                </a:solidFill>
                <a:latin typeface="Menlo"/>
                <a:ea typeface="Sarabun"/>
                <a:cs typeface="Sarabun"/>
              </a:rPr>
              <a:t>except AssignmentError as e:</a:t>
            </a:r>
          </a:p>
          <a:p>
            <a:pPr algn="l">
              <a:spcAft>
                <a:spcPts val="200"/>
              </a:spcAft>
            </a:pPr>
            <a:r>
              <a:rPr sz="1400" b="0">
                <a:solidFill>
                  <a:srgbClr val="FFFFFF"/>
                </a:solidFill>
                <a:latin typeface="Menlo"/>
                <a:ea typeface="Sarabun"/>
                <a:cs typeface="Sarabun"/>
              </a:rPr>
              <a:t>    → HTTP 409 "รับได้เฉพาะ…"</a:t>
            </a:r>
          </a:p>
        </p:txBody>
      </p:sp>
      <p:sp>
        <p:nvSpPr>
          <p:cNvPr id="13" name="TextBox 12"/>
          <p:cNvSpPr txBox="1"/>
          <p:nvPr/>
        </p:nvSpPr>
        <p:spPr>
          <a:xfrm>
            <a:off x="508000" y="3632200"/>
            <a:ext cx="11176000" cy="203200"/>
          </a:xfrm>
          <a:prstGeom prst="rect">
            <a:avLst/>
          </a:prstGeom>
          <a:noFill/>
        </p:spPr>
        <p:txBody>
          <a:bodyPr wrap="square" anchor="t" lIns="50800" rIns="50800" tIns="25400" bIns="25400">
            <a:spAutoFit/>
          </a:bodyPr>
          <a:lstStyle/>
          <a:p>
            <a:pPr algn="ctr">
              <a:spcAft>
                <a:spcPts val="600"/>
              </a:spcAft>
            </a:pPr>
            <a:r>
              <a:rPr sz="1200" b="0">
                <a:solidFill>
                  <a:srgbClr val="A6A6A6"/>
                </a:solidFill>
                <a:latin typeface="Sarabun"/>
                <a:ea typeface="Sarabun"/>
                <a:cs typeface="Sarabun"/>
              </a:rPr>
              <a:t>ตัวอย่างจริง: เพิ่มนัดเวลาชน → ScheduleConflictError → ข้อความนี้</a:t>
            </a:r>
          </a:p>
        </p:txBody>
      </p:sp>
      <p:sp>
        <p:nvSpPr>
          <p:cNvPr id="14" name="Rectangle 13"/>
          <p:cNvSpPr/>
          <p:nvPr/>
        </p:nvSpPr>
        <p:spPr>
          <a:xfrm>
            <a:off x="2517087" y="3867150"/>
            <a:ext cx="7157824" cy="143510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chedule_conflict.png"/>
          <p:cNvPicPr>
            <a:picLocks noChangeAspect="1"/>
          </p:cNvPicPr>
          <p:nvPr/>
        </p:nvPicPr>
        <p:blipFill>
          <a:blip r:embed="rId3"/>
          <a:srcRect l="12000" t="2000" r="10000" b="80500"/>
          <a:stretch>
            <a:fillRect/>
          </a:stretch>
        </p:blipFill>
        <p:spPr>
          <a:xfrm>
            <a:off x="2536137" y="3886200"/>
            <a:ext cx="7119724" cy="1397000"/>
          </a:xfrm>
          <a:prstGeom prst="rect">
            <a:avLst/>
          </a:prstGeom>
        </p:spPr>
      </p:pic>
      <p:sp>
        <p:nvSpPr>
          <p:cNvPr id="16" name="Rectangle 15"/>
          <p:cNvSpPr/>
          <p:nvPr/>
        </p:nvSpPr>
        <p:spPr>
          <a:xfrm>
            <a:off x="508000" y="5384800"/>
            <a:ext cx="11176000" cy="508000"/>
          </a:xfrm>
          <a:prstGeom prst="rect">
            <a:avLst/>
          </a:prstGeom>
          <a:solidFill>
            <a:srgbClr val="36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5435600"/>
            <a:ext cx="10922000" cy="406400"/>
          </a:xfrm>
          <a:prstGeom prst="rect">
            <a:avLst/>
          </a:prstGeom>
          <a:noFill/>
        </p:spPr>
        <p:txBody>
          <a:bodyPr wrap="square" anchor="ctr" lIns="50800" rIns="50800" tIns="25400" bIns="25400">
            <a:spAutoFit/>
          </a:bodyPr>
          <a:lstStyle/>
          <a:p>
            <a:pPr algn="ctr">
              <a:spcAft>
                <a:spcPts val="600"/>
              </a:spcAft>
            </a:pPr>
            <a:r>
              <a:rPr sz="1600" b="1">
                <a:solidFill>
                  <a:srgbClr val="FFFFFF"/>
                </a:solidFill>
                <a:latin typeface="Sarabun"/>
                <a:ea typeface="Sarabun"/>
                <a:cs typeface="Sarabun"/>
              </a:rPr>
              <a:t>ทำผิดกฎ → โยน error ชนิดเฉพาะ → หน้าเว็บแสดงข้อความไทย</a:t>
            </a:r>
          </a:p>
        </p:txBody>
      </p:sp>
      <p:sp>
        <p:nvSpPr>
          <p:cNvPr id="18" name="TextBox 17"/>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domain/errors.py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เส้นทางคดีจากเปิดถึงปิด และทางแยกเมื่อทนายขอถอนตัว</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FLOW ของคดี</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11</a:t>
            </a:r>
          </a:p>
        </p:txBody>
      </p:sp>
      <p:sp>
        <p:nvSpPr>
          <p:cNvPr id="7" name="Rectangle 6"/>
          <p:cNvSpPr/>
          <p:nvPr/>
        </p:nvSpPr>
        <p:spPr>
          <a:xfrm>
            <a:off x="508000" y="1651000"/>
            <a:ext cx="2032000" cy="939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8800" y="1701800"/>
            <a:ext cx="1930400" cy="8382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เปิดคดี</a:t>
            </a:r>
          </a:p>
        </p:txBody>
      </p:sp>
      <p:sp>
        <p:nvSpPr>
          <p:cNvPr id="9" name="Rectangle 8"/>
          <p:cNvSpPr/>
          <p:nvPr/>
        </p:nvSpPr>
        <p:spPr>
          <a:xfrm>
            <a:off x="2794000" y="1651000"/>
            <a:ext cx="2032000" cy="939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4800" y="1701800"/>
            <a:ext cx="1930400" cy="8382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มอบหมายทนาย</a:t>
            </a:r>
          </a:p>
        </p:txBody>
      </p:sp>
      <p:cxnSp>
        <p:nvCxnSpPr>
          <p:cNvPr id="11" name="Connector 10"/>
          <p:cNvCxnSpPr/>
          <p:nvPr/>
        </p:nvCxnSpPr>
        <p:spPr>
          <a:xfrm>
            <a:off x="2540000" y="2120900"/>
            <a:ext cx="254000" cy="0"/>
          </a:xfrm>
          <a:prstGeom prst="line">
            <a:avLst/>
          </a:prstGeom>
          <a:ln w="2540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080000" y="1651000"/>
            <a:ext cx="2032000" cy="939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0800" y="1701800"/>
            <a:ext cx="1930400" cy="8382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รับ / ปฏิเสธ</a:t>
            </a:r>
          </a:p>
        </p:txBody>
      </p:sp>
      <p:cxnSp>
        <p:nvCxnSpPr>
          <p:cNvPr id="14" name="Connector 13"/>
          <p:cNvCxnSpPr/>
          <p:nvPr/>
        </p:nvCxnSpPr>
        <p:spPr>
          <a:xfrm>
            <a:off x="4826000" y="2120900"/>
            <a:ext cx="254000" cy="0"/>
          </a:xfrm>
          <a:prstGeom prst="line">
            <a:avLst/>
          </a:prstGeom>
          <a:ln w="2540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66000" y="1651000"/>
            <a:ext cx="2032000" cy="939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6800" y="1701800"/>
            <a:ext cx="1930400" cy="8382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นัด + เลื่อนสถานะ</a:t>
            </a:r>
          </a:p>
        </p:txBody>
      </p:sp>
      <p:cxnSp>
        <p:nvCxnSpPr>
          <p:cNvPr id="17" name="Connector 16"/>
          <p:cNvCxnSpPr/>
          <p:nvPr/>
        </p:nvCxnSpPr>
        <p:spPr>
          <a:xfrm>
            <a:off x="7112000" y="2120900"/>
            <a:ext cx="254000" cy="0"/>
          </a:xfrm>
          <a:prstGeom prst="line">
            <a:avLst/>
          </a:prstGeom>
          <a:ln w="2540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652000" y="1651000"/>
            <a:ext cx="2032000" cy="939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02800" y="1701800"/>
            <a:ext cx="1930400" cy="8382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ปิดคดี</a:t>
            </a:r>
          </a:p>
        </p:txBody>
      </p:sp>
      <p:cxnSp>
        <p:nvCxnSpPr>
          <p:cNvPr id="20" name="Connector 19"/>
          <p:cNvCxnSpPr/>
          <p:nvPr/>
        </p:nvCxnSpPr>
        <p:spPr>
          <a:xfrm>
            <a:off x="9398000" y="2120900"/>
            <a:ext cx="254000" cy="0"/>
          </a:xfrm>
          <a:prstGeom prst="line">
            <a:avLst/>
          </a:prstGeom>
          <a:ln w="2540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794000" y="3365500"/>
            <a:ext cx="2032000" cy="1016000"/>
          </a:xfrm>
          <a:prstGeom prst="rect">
            <a:avLst/>
          </a:prstGeom>
          <a:solidFill>
            <a:srgbClr val="452624"/>
          </a:solidFill>
          <a:ln w="15875">
            <a:solidFill>
              <a:srgbClr val="FF8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44800" y="3416300"/>
            <a:ext cx="1930400" cy="9144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ขอถอนตัว</a:t>
            </a:r>
          </a:p>
        </p:txBody>
      </p:sp>
      <p:sp>
        <p:nvSpPr>
          <p:cNvPr id="23" name="Rectangle 22"/>
          <p:cNvSpPr/>
          <p:nvPr/>
        </p:nvSpPr>
        <p:spPr>
          <a:xfrm>
            <a:off x="5080000" y="3365500"/>
            <a:ext cx="2032000" cy="1016000"/>
          </a:xfrm>
          <a:prstGeom prst="rect">
            <a:avLst/>
          </a:prstGeom>
          <a:solidFill>
            <a:srgbClr val="452624"/>
          </a:solidFill>
          <a:ln w="15875">
            <a:solidFill>
              <a:srgbClr val="FF8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30800" y="3416300"/>
            <a:ext cx="1930400" cy="9144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อนุมัติ / ไม่อนุมัติ</a:t>
            </a:r>
          </a:p>
        </p:txBody>
      </p:sp>
      <p:sp>
        <p:nvSpPr>
          <p:cNvPr id="25" name="Rectangle 24"/>
          <p:cNvSpPr/>
          <p:nvPr/>
        </p:nvSpPr>
        <p:spPr>
          <a:xfrm>
            <a:off x="7366000" y="3365500"/>
            <a:ext cx="2032000" cy="1016000"/>
          </a:xfrm>
          <a:prstGeom prst="rect">
            <a:avLst/>
          </a:prstGeom>
          <a:solidFill>
            <a:srgbClr val="452624"/>
          </a:solidFill>
          <a:ln w="15875">
            <a:solidFill>
              <a:srgbClr val="FF8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6800" y="3416300"/>
            <a:ext cx="1930400" cy="914400"/>
          </a:xfrm>
          <a:prstGeom prst="rect">
            <a:avLst/>
          </a:prstGeom>
          <a:noFill/>
        </p:spPr>
        <p:txBody>
          <a:bodyPr wrap="square" anchor="ctr" lIns="50800" rIns="50800" tIns="25400" bIns="25400">
            <a:spAutoFit/>
          </a:bodyPr>
          <a:lstStyle/>
          <a:p>
            <a:pPr algn="ctr">
              <a:spcAft>
                <a:spcPts val="100"/>
              </a:spcAft>
            </a:pPr>
            <a:r>
              <a:rPr sz="1600" b="1">
                <a:solidFill>
                  <a:srgbClr val="FFFFFF"/>
                </a:solidFill>
                <a:latin typeface="Sarabun"/>
                <a:ea typeface="Sarabun"/>
                <a:cs typeface="Sarabun"/>
              </a:rPr>
              <a:t>ย้าย / ยกเลิกนัด</a:t>
            </a:r>
          </a:p>
        </p:txBody>
      </p:sp>
      <p:cxnSp>
        <p:nvCxnSpPr>
          <p:cNvPr id="27" name="Connector 26"/>
          <p:cNvCxnSpPr/>
          <p:nvPr/>
        </p:nvCxnSpPr>
        <p:spPr>
          <a:xfrm>
            <a:off x="6096000" y="2590800"/>
            <a:ext cx="0" cy="774700"/>
          </a:xfrm>
          <a:prstGeom prst="line">
            <a:avLst/>
          </a:prstGeom>
          <a:ln w="25400">
            <a:solidFill>
              <a:srgbClr val="FF8A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826000" y="3873500"/>
            <a:ext cx="254000" cy="0"/>
          </a:xfrm>
          <a:prstGeom prst="line">
            <a:avLst/>
          </a:prstGeom>
          <a:ln w="25400">
            <a:solidFill>
              <a:srgbClr val="FF8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112000" y="3873500"/>
            <a:ext cx="254000" cy="0"/>
          </a:xfrm>
          <a:prstGeom prst="line">
            <a:avLst/>
          </a:prstGeom>
          <a:ln w="25400">
            <a:solidFill>
              <a:srgbClr val="FF8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652000" y="3556000"/>
            <a:ext cx="2032000" cy="635000"/>
          </a:xfrm>
          <a:prstGeom prst="rect">
            <a:avLst/>
          </a:prstGeom>
          <a:noFill/>
        </p:spPr>
        <p:txBody>
          <a:bodyPr wrap="square" anchor="t" lIns="50800" rIns="50800" tIns="25400" bIns="25400">
            <a:spAutoFit/>
          </a:bodyPr>
          <a:lstStyle/>
          <a:p>
            <a:pPr algn="l">
              <a:spcAft>
                <a:spcPts val="600"/>
              </a:spcAft>
            </a:pPr>
            <a:r>
              <a:rPr sz="1400" b="0">
                <a:solidFill>
                  <a:srgbClr val="A6A6A6"/>
                </a:solidFill>
                <a:latin typeface="Sarabun"/>
                <a:ea typeface="Sarabun"/>
                <a:cs typeface="Sarabun"/>
              </a:rPr>
              <a:t>กล่องแดง =</a:t>
            </a:r>
          </a:p>
          <a:p>
            <a:pPr algn="l">
              <a:spcAft>
                <a:spcPts val="600"/>
              </a:spcAft>
            </a:pPr>
            <a:r>
              <a:rPr sz="1400" b="0">
                <a:solidFill>
                  <a:srgbClr val="A6A6A6"/>
                </a:solidFill>
                <a:latin typeface="Sarabun"/>
                <a:ea typeface="Sarabun"/>
                <a:cs typeface="Sarabun"/>
              </a:rPr>
              <a:t>ทางแยกถอนตัว</a:t>
            </a:r>
          </a:p>
        </p:txBody>
      </p:sp>
      <p:sp>
        <p:nvSpPr>
          <p:cNvPr id="31" name="TextBox 30"/>
          <p:cNvSpPr txBox="1"/>
          <p:nvPr/>
        </p:nvSpPr>
        <p:spPr>
          <a:xfrm>
            <a:off x="508000" y="5016500"/>
            <a:ext cx="11176000" cy="762000"/>
          </a:xfrm>
          <a:prstGeom prst="rect">
            <a:avLst/>
          </a:prstGeom>
          <a:noFill/>
        </p:spPr>
        <p:txBody>
          <a:bodyPr wrap="square" anchor="t" lIns="50800" rIns="50800" tIns="25400" bIns="25400">
            <a:spAutoFit/>
          </a:bodyPr>
          <a:lstStyle/>
          <a:p>
            <a:pPr algn="l">
              <a:spcAft>
                <a:spcPts val="400"/>
              </a:spcAft>
            </a:pPr>
            <a:r>
              <a:rPr sz="1500" b="0">
                <a:solidFill>
                  <a:srgbClr val="FFFFFF"/>
                </a:solidFill>
                <a:latin typeface="Sarabun"/>
                <a:ea typeface="Sarabun"/>
                <a:cs typeface="Sarabun"/>
              </a:rPr>
              <a:t>• เส้นทึบ = ทางหลัก · เส้นประแดง = ทางแยกถอนตัว</a:t>
            </a:r>
          </a:p>
          <a:p>
            <a:pPr algn="l">
              <a:spcAft>
                <a:spcPts val="400"/>
              </a:spcAft>
            </a:pPr>
            <a:r>
              <a:rPr sz="1500" b="0">
                <a:solidFill>
                  <a:srgbClr val="FFFFFF"/>
                </a:solidFill>
                <a:latin typeface="Sarabun"/>
                <a:ea typeface="Sarabun"/>
                <a:cs typeface="Sarabun"/>
              </a:rPr>
              <a:t>• ปิดคดีได้เมื่อไม่มีนัดในอนาคตหรือกำหนดยื่นค้าง</a:t>
            </a:r>
          </a:p>
        </p:txBody>
      </p:sp>
      <p:sp>
        <p:nvSpPr>
          <p:cNvPr id="32" name="TextBox 31"/>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api/routes/manager.py · domain/case.py · assignment.py · schedule.py · repository/appointment_repo.py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สรุป 4 หลัก OOP และงานต่อยอด</a:t>
            </a:r>
          </a:p>
        </p:txBody>
      </p:sp>
      <p:sp>
        <p:nvSpPr>
          <p:cNvPr id="3" name="Rectangle 2"/>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12</a:t>
            </a:r>
          </a:p>
        </p:txBody>
      </p:sp>
      <p:graphicFrame>
        <p:nvGraphicFramePr>
          <p:cNvPr id="6" name="Table 5"/>
          <p:cNvGraphicFramePr>
            <a:graphicFrameLocks noGrp="1"/>
          </p:cNvGraphicFramePr>
          <p:nvPr/>
        </p:nvGraphicFramePr>
        <p:xfrm>
          <a:off x="508000" y="1524000"/>
          <a:ext cx="11176000" cy="2743200"/>
        </p:xfrm>
        <a:graphic>
          <a:graphicData uri="http://schemas.openxmlformats.org/drawingml/2006/table">
            <a:tbl>
              <a:tblPr firstRow="1" bandRow="1">
                <a:tableStyleId>{5C22544A-7EE6-4342-B048-85BDC9FD1C3A}</a:tableStyleId>
              </a:tblPr>
              <a:tblGrid>
                <a:gridCol w="2413000"/>
                <a:gridCol w="8763000"/>
              </a:tblGrid>
              <a:tr h="457200">
                <a:tc>
                  <a:txBody>
                    <a:bodyPr/>
                    <a:lstStyle/>
                    <a:p>
                      <a:r>
                        <a:rPr sz="1500" b="1">
                          <a:solidFill>
                            <a:srgbClr val="FFFFFF"/>
                          </a:solidFill>
                          <a:latin typeface="Sarabun"/>
                          <a:ea typeface="Sarabun"/>
                          <a:cs typeface="Sarabun"/>
                        </a:rPr>
                        <a:t>หลัก</a:t>
                      </a:r>
                    </a:p>
                  </a:txBody>
                  <a:tcPr marL="101600" marR="101600" marT="38100" marB="38100" anchor="ctr">
                    <a:solidFill>
                      <a:srgbClr val="000000"/>
                    </a:solidFill>
                  </a:tcPr>
                </a:tc>
                <a:tc>
                  <a:txBody>
                    <a:bodyPr/>
                    <a:lstStyle/>
                    <a:p>
                      <a:r>
                        <a:rPr sz="1500" b="1">
                          <a:solidFill>
                            <a:srgbClr val="FFFFFF"/>
                          </a:solidFill>
                          <a:latin typeface="Sarabun"/>
                          <a:ea typeface="Sarabun"/>
                          <a:cs typeface="Sarabun"/>
                        </a:rPr>
                        <a:t>ในระบบนี้</a:t>
                      </a:r>
                    </a:p>
                  </a:txBody>
                  <a:tcPr marL="101600" marR="101600" marT="38100" marB="38100" anchor="ctr">
                    <a:solidFill>
                      <a:srgbClr val="000000"/>
                    </a:solidFill>
                  </a:tcPr>
                </a:tc>
              </a:tr>
              <a:tr h="457200">
                <a:tc>
                  <a:txBody>
                    <a:bodyPr/>
                    <a:lstStyle/>
                    <a:p>
                      <a:r>
                        <a:rPr sz="1500" b="0">
                          <a:solidFill>
                            <a:srgbClr val="FFFFFF"/>
                          </a:solidFill>
                          <a:latin typeface="Sarabun"/>
                          <a:ea typeface="Sarabun"/>
                          <a:cs typeface="Sarabun"/>
                        </a:rPr>
                        <a:t>Encapsulation</a:t>
                      </a:r>
                    </a:p>
                  </a:txBody>
                  <a:tcPr marL="101600" marR="101600" marT="38100" marB="38100" anchor="ctr">
                    <a:solidFill>
                      <a:srgbClr val="2B2B2B"/>
                    </a:solidFill>
                  </a:tcPr>
                </a:tc>
                <a:tc>
                  <a:txBody>
                    <a:bodyPr/>
                    <a:lstStyle/>
                    <a:p>
                      <a:r>
                        <a:rPr sz="1500" b="0">
                          <a:solidFill>
                            <a:srgbClr val="FFFFFF"/>
                          </a:solidFill>
                          <a:latin typeface="Sarabun"/>
                          <a:ea typeface="Sarabun"/>
                          <a:cs typeface="Sarabun"/>
                        </a:rPr>
                        <a:t>Case._status / CaseAssignment._status อ่านอย่างเดียว เปลี่ยนผ่านเมธอด</a:t>
                      </a:r>
                    </a:p>
                  </a:txBody>
                  <a:tcPr marL="101600" marR="101600" marT="38100" marB="38100" anchor="ctr">
                    <a:solidFill>
                      <a:srgbClr val="2B2B2B"/>
                    </a:solidFill>
                  </a:tcPr>
                </a:tc>
              </a:tr>
              <a:tr h="457200">
                <a:tc>
                  <a:txBody>
                    <a:bodyPr/>
                    <a:lstStyle/>
                    <a:p>
                      <a:r>
                        <a:rPr sz="1500" b="0">
                          <a:solidFill>
                            <a:srgbClr val="FFFFFF"/>
                          </a:solidFill>
                          <a:latin typeface="Sarabun"/>
                          <a:ea typeface="Sarabun"/>
                          <a:cs typeface="Sarabun"/>
                        </a:rPr>
                        <a:t>Abstraction</a:t>
                      </a:r>
                    </a:p>
                  </a:txBody>
                  <a:tcPr marL="101600" marR="101600" marT="38100" marB="38100" anchor="ctr">
                    <a:solidFill>
                      <a:srgbClr val="1E1E1E"/>
                    </a:solidFill>
                  </a:tcPr>
                </a:tc>
                <a:tc>
                  <a:txBody>
                    <a:bodyPr/>
                    <a:lstStyle/>
                    <a:p>
                      <a:r>
                        <a:rPr sz="1500" b="0">
                          <a:solidFill>
                            <a:srgbClr val="FFFFFF"/>
                          </a:solidFill>
                          <a:latin typeface="Sarabun"/>
                          <a:ea typeface="Sarabun"/>
                          <a:cs typeface="Sarabun"/>
                        </a:rPr>
                        <a:t>Person / SystemUser / Appointment ประกาศสัญญา ลูกต้องเติม</a:t>
                      </a:r>
                    </a:p>
                  </a:txBody>
                  <a:tcPr marL="101600" marR="101600" marT="38100" marB="38100" anchor="ctr">
                    <a:solidFill>
                      <a:srgbClr val="1E1E1E"/>
                    </a:solidFill>
                  </a:tcPr>
                </a:tc>
              </a:tr>
              <a:tr h="457200">
                <a:tc>
                  <a:txBody>
                    <a:bodyPr/>
                    <a:lstStyle/>
                    <a:p>
                      <a:r>
                        <a:rPr sz="1500" b="0">
                          <a:solidFill>
                            <a:srgbClr val="FFFFFF"/>
                          </a:solidFill>
                          <a:latin typeface="Sarabun"/>
                          <a:ea typeface="Sarabun"/>
                          <a:cs typeface="Sarabun"/>
                        </a:rPr>
                        <a:t>Inheritance</a:t>
                      </a:r>
                    </a:p>
                  </a:txBody>
                  <a:tcPr marL="101600" marR="101600" marT="38100" marB="38100" anchor="ctr">
                    <a:solidFill>
                      <a:srgbClr val="2B2B2B"/>
                    </a:solidFill>
                  </a:tcPr>
                </a:tc>
                <a:tc>
                  <a:txBody>
                    <a:bodyPr/>
                    <a:lstStyle/>
                    <a:p>
                      <a:r>
                        <a:rPr sz="1500" b="0">
                          <a:solidFill>
                            <a:srgbClr val="FFFFFF"/>
                          </a:solidFill>
                          <a:latin typeface="Sarabun"/>
                          <a:ea typeface="Sarabun"/>
                          <a:cs typeface="Sarabun"/>
                        </a:rPr>
                        <a:t>Lawyer/Manager/Admin สืบ SystemUser · นัด 3 ชนิดสืบ Appointment</a:t>
                      </a:r>
                    </a:p>
                  </a:txBody>
                  <a:tcPr marL="101600" marR="101600" marT="38100" marB="38100" anchor="ctr">
                    <a:solidFill>
                      <a:srgbClr val="2B2B2B"/>
                    </a:solidFill>
                  </a:tcPr>
                </a:tc>
              </a:tr>
              <a:tr h="457200">
                <a:tc>
                  <a:txBody>
                    <a:bodyPr/>
                    <a:lstStyle/>
                    <a:p>
                      <a:r>
                        <a:rPr sz="1500" b="0">
                          <a:solidFill>
                            <a:srgbClr val="FFFFFF"/>
                          </a:solidFill>
                          <a:latin typeface="Sarabun"/>
                          <a:ea typeface="Sarabun"/>
                          <a:cs typeface="Sarabun"/>
                        </a:rPr>
                        <a:t>Polymorphism</a:t>
                      </a:r>
                    </a:p>
                  </a:txBody>
                  <a:tcPr marL="101600" marR="101600" marT="38100" marB="38100" anchor="ctr">
                    <a:solidFill>
                      <a:srgbClr val="1E1E1E"/>
                    </a:solidFill>
                  </a:tcPr>
                </a:tc>
                <a:tc>
                  <a:txBody>
                    <a:bodyPr/>
                    <a:lstStyle/>
                    <a:p>
                      <a:r>
                        <a:rPr sz="1500" b="0">
                          <a:solidFill>
                            <a:srgbClr val="FFFFFF"/>
                          </a:solidFill>
                          <a:latin typeface="Sarabun"/>
                          <a:ea typeface="Sarabun"/>
                          <a:cs typeface="Sarabun"/>
                        </a:rPr>
                        <a:t>home_url() บรรทัดเดียว ได้หน้าแรก 3 แบบ ไม่ถามชนิด</a:t>
                      </a:r>
                    </a:p>
                  </a:txBody>
                  <a:tcPr marL="101600" marR="101600" marT="38100" marB="38100" anchor="ctr">
                    <a:solidFill>
                      <a:srgbClr val="1E1E1E"/>
                    </a:solidFill>
                  </a:tcPr>
                </a:tc>
              </a:tr>
              <a:tr h="457200">
                <a:tc>
                  <a:txBody>
                    <a:bodyPr/>
                    <a:lstStyle/>
                    <a:p>
                      <a:r>
                        <a:rPr sz="1500" b="0">
                          <a:solidFill>
                            <a:srgbClr val="FFFFFF"/>
                          </a:solidFill>
                          <a:latin typeface="Sarabun"/>
                          <a:ea typeface="Sarabun"/>
                          <a:cs typeface="Sarabun"/>
                        </a:rPr>
                        <a:t>Exception</a:t>
                      </a:r>
                    </a:p>
                  </a:txBody>
                  <a:tcPr marL="101600" marR="101600" marT="38100" marB="38100" anchor="ctr">
                    <a:solidFill>
                      <a:srgbClr val="2B2B2B"/>
                    </a:solidFill>
                  </a:tcPr>
                </a:tc>
                <a:tc>
                  <a:txBody>
                    <a:bodyPr/>
                    <a:lstStyle/>
                    <a:p>
                      <a:r>
                        <a:rPr sz="1500" b="0">
                          <a:solidFill>
                            <a:srgbClr val="FFFFFF"/>
                          </a:solidFill>
                          <a:latin typeface="Sarabun"/>
                          <a:ea typeface="Sarabun"/>
                          <a:cs typeface="Sarabun"/>
                        </a:rPr>
                        <a:t>ทำผิดกฎ → error ชนิดเฉพาะ → ข้อความไทย</a:t>
                      </a:r>
                    </a:p>
                  </a:txBody>
                  <a:tcPr marL="101600" marR="101600" marT="38100" marB="38100" anchor="ctr">
                    <a:solidFill>
                      <a:srgbClr val="2B2B2B"/>
                    </a:solidFill>
                  </a:tcPr>
                </a:tc>
              </a:tr>
            </a:tbl>
          </a:graphicData>
        </a:graphic>
      </p:graphicFrame>
      <p:sp>
        <p:nvSpPr>
          <p:cNvPr id="7" name="TextBox 6"/>
          <p:cNvSpPr txBox="1"/>
          <p:nvPr/>
        </p:nvSpPr>
        <p:spPr>
          <a:xfrm>
            <a:off x="508000" y="4368800"/>
            <a:ext cx="11176000" cy="381000"/>
          </a:xfrm>
          <a:prstGeom prst="rect">
            <a:avLst/>
          </a:prstGeom>
          <a:noFill/>
        </p:spPr>
        <p:txBody>
          <a:bodyPr wrap="square" anchor="t" lIns="50800" rIns="50800" tIns="25400" bIns="25400">
            <a:spAutoFit/>
          </a:bodyPr>
          <a:lstStyle/>
          <a:p>
            <a:pPr algn="l">
              <a:spcAft>
                <a:spcPts val="600"/>
              </a:spcAft>
            </a:pPr>
            <a:r>
              <a:rPr sz="1500" b="0">
                <a:solidFill>
                  <a:srgbClr val="FFFFFF"/>
                </a:solidFill>
                <a:latin typeface="Sarabun"/>
                <a:ea typeface="Sarabun"/>
                <a:cs typeface="Sarabun"/>
              </a:rPr>
              <a:t>เทส: 90 เทสผ่านทั้งหมด · domain เทสโดยไม่ใช้ DB · repository เทสบนฐานแยก</a:t>
            </a:r>
          </a:p>
        </p:txBody>
      </p:sp>
      <p:sp>
        <p:nvSpPr>
          <p:cNvPr id="8" name="TextBox 7"/>
          <p:cNvSpPr txBox="1"/>
          <p:nvPr/>
        </p:nvSpPr>
        <p:spPr>
          <a:xfrm>
            <a:off x="508000" y="4800600"/>
            <a:ext cx="11176000" cy="3810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ต่อยอด: แจ้งเตือนทางอีเมล/ไลน์ · ซิงก์ปฏิทิน · สิทธิ์ละเอียดต่อคดี (ตอนนี้ manager เห็นหมด)</a:t>
            </a:r>
          </a:p>
        </p:txBody>
      </p:sp>
      <p:sp>
        <p:nvSpPr>
          <p:cNvPr id="9" name="Rectangle 8"/>
          <p:cNvSpPr/>
          <p:nvPr/>
        </p:nvSpPr>
        <p:spPr>
          <a:xfrm>
            <a:off x="508000" y="5308600"/>
            <a:ext cx="11176000" cy="558800"/>
          </a:xfrm>
          <a:prstGeom prst="rect">
            <a:avLst/>
          </a:prstGeom>
          <a:solidFill>
            <a:srgbClr val="36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 y="5359400"/>
            <a:ext cx="10922000" cy="457200"/>
          </a:xfrm>
          <a:prstGeom prst="rect">
            <a:avLst/>
          </a:prstGeom>
          <a:noFill/>
        </p:spPr>
        <p:txBody>
          <a:bodyPr wrap="square" anchor="ctr" lIns="50800" rIns="50800" tIns="25400" bIns="25400">
            <a:spAutoFit/>
          </a:bodyPr>
          <a:lstStyle/>
          <a:p>
            <a:pPr algn="ctr">
              <a:spcAft>
                <a:spcPts val="600"/>
              </a:spcAft>
            </a:pPr>
            <a:r>
              <a:rPr sz="1900" b="1">
                <a:solidFill>
                  <a:srgbClr val="FFFFFF"/>
                </a:solidFill>
                <a:latin typeface="Sarabun"/>
                <a:ea typeface="Sarabun"/>
                <a:cs typeface="Sarabun"/>
              </a:rPr>
              <a:t>กฎธุรกิจทั้งหมดอยู่ในเมธอดของคลาสใน domain/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