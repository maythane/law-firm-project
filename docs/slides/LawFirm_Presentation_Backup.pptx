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4" r:id="rId26"/>
    <p:sldId id="259" r:id="rId11"/>
    <p:sldId id="260" r:id="rId12"/>
    <p:sldId id="267" r:id="rId19"/>
    <p:sldId id="270" r:id="rId22"/>
    <p:sldId id="271" r:id="rId23"/>
    <p:sldId id="272" r:id="rId24"/>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1" Type="http://schemas.openxmlformats.org/officeDocument/2006/relationships/slide" Target="slides/slide15.xml"/><Relationship Id="rId12" Type="http://schemas.openxmlformats.org/officeDocument/2006/relationships/slide" Target="slides/slide16.xml"/><Relationship Id="rId19"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6" Type="http://schemas.openxmlformats.org/officeDocument/2006/relationships/slide" Target="slides/slide14.xml"/><Relationship Id="rId27"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โค้ดแบ่งเป็นสามชั้น ชั้น api ดูแลหน้าเว็บ ชั้น repository คุยกับฐานข้อมูล และชั้น domain เก็บกติกาธุรกิจทั้งหมด กฎสำคัญคือการพึ่งพาไปทางเดียว api เรียก repository และ domain ได้ repository เรียก domain ได้ แต่ domain ไม่ import ใครเลย กฎนี้ตรวจได้จริงด้วยคำสั่ง grep ใน domain ต้องไม่เจอ from api หรือ from repository ซึ่งตอนนี้ผลเป็นศูนย์บรรทัด ส่วนการเปิดปิดการเชื่อมต่อฐานข้อมูลอยู่จุดเดียวคือ get_db ใน api/deps.py ที่ส่งเข้า route ผ่าน Depends ครับ</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โครงโฟลเดอร์ตั้งใจให้แต่ละโฟลเดอร์มีหน้าที่เดียว domain คือกติกาธุรกิจ repository คือ SQL api คือ route ของหน้าเว็บ templates คือหน้าตา db เก็บ schema กับ seed และ tests เก็บเทสทั้งหมด api/main.py เดิมยาว 1,212 บรรทัด หลัง refactor เหลือ 23 บรรทัด เพราะแยก route ออกเป็น 7 โมดูล ถ้าถามว่าแยกทำไม คำตอบคือให้คนอ่านเดาได้ว่าโค้ดอยู่ไหนโดยไม่ต้องเปิดหาครับ</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Repository pattern SQL ทั้งหมดอยู่ใน repository ที่เดียว domain ไม่เคยเห็น SQL และ repository ไม่รู้จักกฎธุรกิจ แต่ละตารางมีคลาสของตัวเอง เช่น CaseRepository ถือ connection ไว้หนึ่งตัว และคืนค่าเป็น object ของ domain ตัวอย่างที่สอง UserRepository อ่านคอลัมน์ role แล้วสร้าง object ให้ตรงคลาสลูก Lawyer Manager หรือ Admin ถ้าถามว่าทำไมไม่ใช้ ORM ตอบว่าโปรเจกต์ขนาดนี้ SQL ตรงๆ อ่านง่ายกว่า และถ้าวันหนึ่งย้ายฐานข้อมูล ก็แก้แค่ repository ครับ</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สไลด์นี้คือ flow เดียวกันบนหน้าจอจริง ซ้ายคือหน้ามอบหมายของผู้จัดการ เรียงทนายจากภาระงานน้อยไปมาก คนที่งานเกินจะมีป้ายเตือน ผู้จัดการจึงเลือกคนที่ว่างกว่าได้ทันที กลางคือ popup คดีรอตอบรับของทนาย มีปุ่มรับคดีกับปฏิเสธ ซึ่งเรียก accept และ decline ขวาคือหน้าคดีหลังทนายรับแล้ว มีตารางนัด ปุ่มเลื่อนสถานะ และปุ่มขอถอนตัวจากคดี ซึ่งเป็นจุดเริ่มของทางแยกสีแดงในสไลด์ flow คดีครับ</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การทดสอบมี 90 เทส แบ่งตามไฟล์ตามตาราง ส่วนใหญ่ทดสอบชั้น domain ซึ่งไม่ต้องใช้ฐานข้อมูลเลย เทส repository 12 เทสวิ่งบนฐานข้อมูลแยกชื่อ lawfirm_test ตอนแรก fixture ของเทสสั่ง TRUNCATE ฐาน lawfirm-db ของแอปตัวจริง ทำให้ข้อมูลหายไปครั้งหนึ่ง ตอนนี้แก้แล้ว เทสสร้างฐาน lawfirm_test ลง schema ให้เอง และมี guard ที่สั่ง pytest.fail ก่อน TRUNCATE ถ้าชื่อฐานชนกับของจริง และมีเทส guard อีก 4 เคสที่ไม่ต้องใช้ฐานข้อมูล คอยกันไม่ให้เกิดซ้ำครับ</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ถ้าอาจารย์ขอดู demo มีสามฉาก ทุกบัญชีใช้รหัสผ่าน password123 ฉากแรก lawyer1 เปิด popup คดีรอตอบรับ กดรับคดี แล้วเพิ่มนัดศาลพรุ่งนี้ จากนั้นดูแผงรายการใกล้ครบกำหนด ฉากสอง manager1 ดูคิวคดีที่ยังไม่มีทนายตอบรับ กดมอบหมาย แล้วเปิดคำขอถอนตัว กดอนุมัติพร้อมย้ายนัด ฉากสาม admin เพิ่มผู้ใช้ใหม่เป็นทนาย ปิดใช้งาน แล้วเปิดคืน ถ้าเวลาน้อย จะเล่นแค่ฉากทนาย คือรับคดีกับเพิ่มนัด ก็เห็น loop หลักของระบบครบครับ</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สไลด์สำรองสำหรับตอบคำถาม เปิดเฉพาะเมื่อถูกถาม ถ้าถามว่า _status ยังเขียนทับได้ไหม ตอบตรงๆ ว่าได้ เพราะ Python ไม่มี private จริง ขีดล่างหนึ่งตัวเป็นข้อตกลงว่าห้ามแตะ สิ่งที่กันจริงคือ property ที่ไม่มี setter ถ้าต้องการกันมากขึ้นใช้ขีดล่างสองตัวให้เกิด name mangling ได้ ถ้าถามว่าทำไมไม่มี interface ตอบว่า Python ไม่มีคีย์เวิร์ด interface ใช้ ABC กับ abstractmethod ทำหน้าที่เดียวกัน ถ้าถามเรื่อง overloading ตอบว่า Python ไม่มี method overloading แบบ Java ระบบนี้ใช้ overriding แทน และถ้าถามเรื่อง composition กับ aggregation Case ถือ CaseAssignment ไว้เป็นของตัวเองคือ composition ส่วน Schedule แค่ยืมรายการนัดมาตรวจ ไม่ได้เป็นเจ้าของ คือ aggregation ครับ</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ฝั่งคดีและตาราง ตรงกลางคือ Case เก็บสถานะและรายการมอบหมายไว้เป็น private คดีหนึ่งมี CaseAssignment ได้หลายรายการ แต่ละรายการผูกกับทนายหนึ่งคน ซ้ายล่างคือ Appointment เป็นคลาส abstract มีลูกสามชนิด นัดศาล นัดพบลูกความ และกำหนดยื่นเอกสาร นัดศาลเตือนล่วงหน้า 3 วัน นัดพบลูกความ 1 วัน กำหนดยื่น 15 วัน ตัวเลขต่างกันแต่เรียกเมธอดเดียวกัน ขวามือคือ Schedule ไม่ได้สร้างนัดเอง แค่ยืมรายการนัดจาก repository มาตรวจนัดชน เป็นความสัมพันธ์แบบ aggregation และทุกคลาสใน domain เขียนเป็น dataclass ส่วนสถานะคดีกับสถานะการมอบหมายเป็น enum ครับ</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คำถามที่อาจถูกถาม</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สไลด์สำรอง เปิดเมื่อถูกถาม</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
            </a:r>
          </a:p>
        </p:txBody>
      </p:sp>
      <p:sp>
        <p:nvSpPr>
          <p:cNvPr id="7" name="Rectangle 6"/>
          <p:cNvSpPr/>
          <p:nvPr/>
        </p:nvSpPr>
        <p:spPr>
          <a:xfrm>
            <a:off x="508000" y="1524000"/>
            <a:ext cx="5461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1200" y="1676400"/>
            <a:ext cx="5054600" cy="355600"/>
          </a:xfrm>
          <a:prstGeom prst="rect">
            <a:avLst/>
          </a:prstGeom>
          <a:noFill/>
        </p:spPr>
        <p:txBody>
          <a:bodyPr wrap="square" anchor="t" lIns="50800" rIns="50800" tIns="25400" bIns="25400">
            <a:spAutoFit/>
          </a:bodyPr>
          <a:lstStyle/>
          <a:p>
            <a:pPr algn="l">
              <a:spcAft>
                <a:spcPts val="600"/>
              </a:spcAft>
            </a:pPr>
            <a:r>
              <a:rPr sz="1700" b="1">
                <a:solidFill>
                  <a:srgbClr val="B39DDB"/>
                </a:solidFill>
                <a:latin typeface="Sarabun"/>
                <a:ea typeface="Sarabun"/>
                <a:cs typeface="Sarabun"/>
              </a:rPr>
              <a:t>_status ยังเขียนทับได้ไหม?</a:t>
            </a:r>
          </a:p>
        </p:txBody>
      </p:sp>
      <p:sp>
        <p:nvSpPr>
          <p:cNvPr id="9" name="TextBox 8"/>
          <p:cNvSpPr txBox="1"/>
          <p:nvPr/>
        </p:nvSpPr>
        <p:spPr>
          <a:xfrm>
            <a:off x="711200" y="2133600"/>
            <a:ext cx="5054600" cy="1320800"/>
          </a:xfrm>
          <a:prstGeom prst="rect">
            <a:avLst/>
          </a:prstGeom>
          <a:noFill/>
        </p:spPr>
        <p:txBody>
          <a:bodyPr wrap="square" anchor="t" lIns="50800" rIns="50800" tIns="25400" bIns="25400">
            <a:spAutoFit/>
          </a:bodyPr>
          <a:lstStyle/>
          <a:p>
            <a:pPr algn="l">
              <a:spcAft>
                <a:spcPts val="600"/>
              </a:spcAft>
            </a:pPr>
            <a:r>
              <a:rPr sz="1600" b="0">
                <a:solidFill>
                  <a:srgbClr val="FFFFFF"/>
                </a:solidFill>
                <a:latin typeface="Sarabun"/>
                <a:ea typeface="Sarabun"/>
                <a:cs typeface="Sarabun"/>
              </a:rPr>
              <a:t>ได้ Python ไม่มี private จริง · _ คือข้อตกลง · property ไม่มี setter กันการแก้ผ่าน .status · ต้องการมากขึ้นใช้ __status (name mangling)</a:t>
            </a:r>
          </a:p>
        </p:txBody>
      </p:sp>
      <p:sp>
        <p:nvSpPr>
          <p:cNvPr id="10" name="Rectangle 9"/>
          <p:cNvSpPr/>
          <p:nvPr/>
        </p:nvSpPr>
        <p:spPr>
          <a:xfrm>
            <a:off x="6223000" y="1524000"/>
            <a:ext cx="5461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26200" y="1676400"/>
            <a:ext cx="5054600" cy="355600"/>
          </a:xfrm>
          <a:prstGeom prst="rect">
            <a:avLst/>
          </a:prstGeom>
          <a:noFill/>
        </p:spPr>
        <p:txBody>
          <a:bodyPr wrap="square" anchor="t" lIns="50800" rIns="50800" tIns="25400" bIns="25400">
            <a:spAutoFit/>
          </a:bodyPr>
          <a:lstStyle/>
          <a:p>
            <a:pPr algn="l">
              <a:spcAft>
                <a:spcPts val="600"/>
              </a:spcAft>
            </a:pPr>
            <a:r>
              <a:rPr sz="1700" b="1">
                <a:solidFill>
                  <a:srgbClr val="B39DDB"/>
                </a:solidFill>
                <a:latin typeface="Sarabun"/>
                <a:ea typeface="Sarabun"/>
                <a:cs typeface="Sarabun"/>
              </a:rPr>
              <a:t>ทำไมไม่มี interface?</a:t>
            </a:r>
          </a:p>
        </p:txBody>
      </p:sp>
      <p:sp>
        <p:nvSpPr>
          <p:cNvPr id="12" name="TextBox 11"/>
          <p:cNvSpPr txBox="1"/>
          <p:nvPr/>
        </p:nvSpPr>
        <p:spPr>
          <a:xfrm>
            <a:off x="6426200" y="2133600"/>
            <a:ext cx="5054600" cy="1320800"/>
          </a:xfrm>
          <a:prstGeom prst="rect">
            <a:avLst/>
          </a:prstGeom>
          <a:noFill/>
        </p:spPr>
        <p:txBody>
          <a:bodyPr wrap="square" anchor="t" lIns="50800" rIns="50800" tIns="25400" bIns="25400">
            <a:spAutoFit/>
          </a:bodyPr>
          <a:lstStyle/>
          <a:p>
            <a:pPr algn="l">
              <a:spcAft>
                <a:spcPts val="600"/>
              </a:spcAft>
            </a:pPr>
            <a:r>
              <a:rPr sz="1600" b="0">
                <a:solidFill>
                  <a:srgbClr val="FFFFFF"/>
                </a:solidFill>
                <a:latin typeface="Sarabun"/>
                <a:ea typeface="Sarabun"/>
                <a:cs typeface="Sarabun"/>
              </a:rPr>
              <a:t>Python ไม่มีคีย์เวิร์ด interface · ใช้ ABC + @abstractmethod ทำหน้าที่เดียวกัน</a:t>
            </a:r>
          </a:p>
        </p:txBody>
      </p:sp>
      <p:sp>
        <p:nvSpPr>
          <p:cNvPr id="13" name="Rectangle 12"/>
          <p:cNvSpPr/>
          <p:nvPr/>
        </p:nvSpPr>
        <p:spPr>
          <a:xfrm>
            <a:off x="508000" y="3746500"/>
            <a:ext cx="5461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1200" y="3898900"/>
            <a:ext cx="5054600" cy="355600"/>
          </a:xfrm>
          <a:prstGeom prst="rect">
            <a:avLst/>
          </a:prstGeom>
          <a:noFill/>
        </p:spPr>
        <p:txBody>
          <a:bodyPr wrap="square" anchor="t" lIns="50800" rIns="50800" tIns="25400" bIns="25400">
            <a:spAutoFit/>
          </a:bodyPr>
          <a:lstStyle/>
          <a:p>
            <a:pPr algn="l">
              <a:spcAft>
                <a:spcPts val="600"/>
              </a:spcAft>
            </a:pPr>
            <a:r>
              <a:rPr sz="1700" b="1">
                <a:solidFill>
                  <a:srgbClr val="B39DDB"/>
                </a:solidFill>
                <a:latin typeface="Sarabun"/>
                <a:ea typeface="Sarabun"/>
                <a:cs typeface="Sarabun"/>
              </a:rPr>
              <a:t>มี overloading ไหม?</a:t>
            </a:r>
          </a:p>
        </p:txBody>
      </p:sp>
      <p:sp>
        <p:nvSpPr>
          <p:cNvPr id="15" name="TextBox 14"/>
          <p:cNvSpPr txBox="1"/>
          <p:nvPr/>
        </p:nvSpPr>
        <p:spPr>
          <a:xfrm>
            <a:off x="711200" y="4356100"/>
            <a:ext cx="5054600" cy="1320800"/>
          </a:xfrm>
          <a:prstGeom prst="rect">
            <a:avLst/>
          </a:prstGeom>
          <a:noFill/>
        </p:spPr>
        <p:txBody>
          <a:bodyPr wrap="square" anchor="t" lIns="50800" rIns="50800" tIns="25400" bIns="25400">
            <a:spAutoFit/>
          </a:bodyPr>
          <a:lstStyle/>
          <a:p>
            <a:pPr algn="l">
              <a:spcAft>
                <a:spcPts val="600"/>
              </a:spcAft>
            </a:pPr>
            <a:r>
              <a:rPr sz="1600" b="0">
                <a:solidFill>
                  <a:srgbClr val="FFFFFF"/>
                </a:solidFill>
                <a:latin typeface="Sarabun"/>
                <a:ea typeface="Sarabun"/>
                <a:cs typeface="Sarabun"/>
              </a:rPr>
              <a:t>Python ไม่มี method overloading แบบ Java · ระบบนี้ใช้ overriding (เช่น home_url)</a:t>
            </a:r>
          </a:p>
        </p:txBody>
      </p:sp>
      <p:sp>
        <p:nvSpPr>
          <p:cNvPr id="16" name="Rectangle 15"/>
          <p:cNvSpPr/>
          <p:nvPr/>
        </p:nvSpPr>
        <p:spPr>
          <a:xfrm>
            <a:off x="6223000" y="3746500"/>
            <a:ext cx="5461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6200" y="3898900"/>
            <a:ext cx="5054600" cy="355600"/>
          </a:xfrm>
          <a:prstGeom prst="rect">
            <a:avLst/>
          </a:prstGeom>
          <a:noFill/>
        </p:spPr>
        <p:txBody>
          <a:bodyPr wrap="square" anchor="t" lIns="50800" rIns="50800" tIns="25400" bIns="25400">
            <a:spAutoFit/>
          </a:bodyPr>
          <a:lstStyle/>
          <a:p>
            <a:pPr algn="l">
              <a:spcAft>
                <a:spcPts val="600"/>
              </a:spcAft>
            </a:pPr>
            <a:r>
              <a:rPr sz="1700" b="1">
                <a:solidFill>
                  <a:srgbClr val="B39DDB"/>
                </a:solidFill>
                <a:latin typeface="Sarabun"/>
                <a:ea typeface="Sarabun"/>
                <a:cs typeface="Sarabun"/>
              </a:rPr>
              <a:t>composition vs aggregation?</a:t>
            </a:r>
          </a:p>
        </p:txBody>
      </p:sp>
      <p:sp>
        <p:nvSpPr>
          <p:cNvPr id="18" name="TextBox 17"/>
          <p:cNvSpPr txBox="1"/>
          <p:nvPr/>
        </p:nvSpPr>
        <p:spPr>
          <a:xfrm>
            <a:off x="6426200" y="4356100"/>
            <a:ext cx="5054600" cy="1320800"/>
          </a:xfrm>
          <a:prstGeom prst="rect">
            <a:avLst/>
          </a:prstGeom>
          <a:noFill/>
        </p:spPr>
        <p:txBody>
          <a:bodyPr wrap="square" anchor="t" lIns="50800" rIns="50800" tIns="25400" bIns="25400">
            <a:spAutoFit/>
          </a:bodyPr>
          <a:lstStyle/>
          <a:p>
            <a:pPr algn="l">
              <a:spcAft>
                <a:spcPts val="600"/>
              </a:spcAft>
            </a:pPr>
            <a:r>
              <a:rPr sz="1600" b="0">
                <a:solidFill>
                  <a:srgbClr val="FFFFFF"/>
                </a:solidFill>
                <a:latin typeface="Sarabun"/>
                <a:ea typeface="Sarabun"/>
                <a:cs typeface="Sarabun"/>
              </a:rPr>
              <a:t>Case ถือ CaseAssignment เป็นของตัวเอง = composition · Schedule ยืมลิสต์นัดจาก repo = aggregation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dependency ไปทางเดียว: domain ไม่ import ชั้นอื่น</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สถาปัตยกรรม 3 ชั้น</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B1</a:t>
            </a:r>
          </a:p>
        </p:txBody>
      </p:sp>
      <p:sp>
        <p:nvSpPr>
          <p:cNvPr id="7" name="Rectangle 6"/>
          <p:cNvSpPr/>
          <p:nvPr/>
        </p:nvSpPr>
        <p:spPr>
          <a:xfrm>
            <a:off x="508000" y="1587500"/>
            <a:ext cx="3556000" cy="15875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8800" y="1638300"/>
            <a:ext cx="3454400" cy="1485900"/>
          </a:xfrm>
          <a:prstGeom prst="rect">
            <a:avLst/>
          </a:prstGeom>
          <a:noFill/>
        </p:spPr>
        <p:txBody>
          <a:bodyPr wrap="square" anchor="ctr" lIns="50800" rIns="50800" tIns="25400" bIns="25400">
            <a:spAutoFit/>
          </a:bodyPr>
          <a:lstStyle/>
          <a:p>
            <a:pPr algn="ctr">
              <a:spcAft>
                <a:spcPts val="100"/>
              </a:spcAft>
            </a:pPr>
            <a:r>
              <a:rPr sz="1700" b="1">
                <a:solidFill>
                  <a:srgbClr val="FFFFFF"/>
                </a:solidFill>
                <a:latin typeface="Sarabun"/>
                <a:ea typeface="Sarabun"/>
                <a:cs typeface="Sarabun"/>
              </a:rPr>
              <a:t>api/ (web)</a:t>
            </a:r>
          </a:p>
          <a:p>
            <a:pPr algn="ctr">
              <a:spcAft>
                <a:spcPts val="100"/>
              </a:spcAft>
            </a:pPr>
            <a:r>
              <a:rPr sz="1500" b="0">
                <a:solidFill>
                  <a:srgbClr val="FFFFFF"/>
                </a:solidFill>
                <a:latin typeface="Sarabun"/>
                <a:ea typeface="Sarabun"/>
                <a:cs typeface="Sarabun"/>
              </a:rPr>
              <a:t>routes/ · deps.py · auth.py</a:t>
            </a:r>
          </a:p>
          <a:p>
            <a:pPr algn="ctr">
              <a:spcAft>
                <a:spcPts val="100"/>
              </a:spcAft>
            </a:pPr>
            <a:r>
              <a:rPr sz="1500" b="0">
                <a:solidFill>
                  <a:srgbClr val="A6A6A6"/>
                </a:solidFill>
                <a:latin typeface="Sarabun"/>
                <a:ea typeface="Sarabun"/>
                <a:cs typeface="Sarabun"/>
              </a:rPr>
              <a:t>39 routes · Depends(get_db)</a:t>
            </a:r>
          </a:p>
        </p:txBody>
      </p:sp>
      <p:sp>
        <p:nvSpPr>
          <p:cNvPr id="9" name="Rectangle 8"/>
          <p:cNvSpPr/>
          <p:nvPr/>
        </p:nvSpPr>
        <p:spPr>
          <a:xfrm>
            <a:off x="4318000" y="1587500"/>
            <a:ext cx="3556000" cy="15875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8800" y="1638300"/>
            <a:ext cx="3454400" cy="1485900"/>
          </a:xfrm>
          <a:prstGeom prst="rect">
            <a:avLst/>
          </a:prstGeom>
          <a:noFill/>
        </p:spPr>
        <p:txBody>
          <a:bodyPr wrap="square" anchor="ctr" lIns="50800" rIns="50800" tIns="25400" bIns="25400">
            <a:spAutoFit/>
          </a:bodyPr>
          <a:lstStyle/>
          <a:p>
            <a:pPr algn="ctr">
              <a:spcAft>
                <a:spcPts val="100"/>
              </a:spcAft>
            </a:pPr>
            <a:r>
              <a:rPr sz="1700" b="1">
                <a:solidFill>
                  <a:srgbClr val="FFFFFF"/>
                </a:solidFill>
                <a:latin typeface="Sarabun"/>
                <a:ea typeface="Sarabun"/>
                <a:cs typeface="Sarabun"/>
              </a:rPr>
              <a:t>repository/ (persistence)</a:t>
            </a:r>
          </a:p>
          <a:p>
            <a:pPr algn="ctr">
              <a:spcAft>
                <a:spcPts val="100"/>
              </a:spcAft>
            </a:pPr>
            <a:r>
              <a:rPr sz="1500" b="0">
                <a:solidFill>
                  <a:srgbClr val="FFFFFF"/>
                </a:solidFill>
                <a:latin typeface="Sarabun"/>
                <a:ea typeface="Sarabun"/>
                <a:cs typeface="Sarabun"/>
              </a:rPr>
              <a:t>Repository class ต่อตาราง + db.py</a:t>
            </a:r>
          </a:p>
          <a:p>
            <a:pPr algn="ctr">
              <a:spcAft>
                <a:spcPts val="100"/>
              </a:spcAft>
            </a:pPr>
            <a:r>
              <a:rPr sz="1500" b="0">
                <a:solidFill>
                  <a:srgbClr val="A6A6A6"/>
                </a:solidFill>
                <a:latin typeface="Sarabun"/>
                <a:ea typeface="Sarabun"/>
                <a:cs typeface="Sarabun"/>
              </a:rPr>
              <a:t>map แถว ↔ object</a:t>
            </a:r>
          </a:p>
        </p:txBody>
      </p:sp>
      <p:sp>
        <p:nvSpPr>
          <p:cNvPr id="11" name="Rectangle 10"/>
          <p:cNvSpPr/>
          <p:nvPr/>
        </p:nvSpPr>
        <p:spPr>
          <a:xfrm>
            <a:off x="8128000" y="1587500"/>
            <a:ext cx="3556000" cy="15875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78800" y="1638300"/>
            <a:ext cx="3454400" cy="1485900"/>
          </a:xfrm>
          <a:prstGeom prst="rect">
            <a:avLst/>
          </a:prstGeom>
          <a:noFill/>
        </p:spPr>
        <p:txBody>
          <a:bodyPr wrap="square" anchor="ctr" lIns="50800" rIns="50800" tIns="25400" bIns="25400">
            <a:spAutoFit/>
          </a:bodyPr>
          <a:lstStyle/>
          <a:p>
            <a:pPr algn="ctr">
              <a:spcAft>
                <a:spcPts val="100"/>
              </a:spcAft>
            </a:pPr>
            <a:r>
              <a:rPr sz="1700" b="1">
                <a:solidFill>
                  <a:srgbClr val="FFFFFF"/>
                </a:solidFill>
                <a:latin typeface="Sarabun"/>
                <a:ea typeface="Sarabun"/>
                <a:cs typeface="Sarabun"/>
              </a:rPr>
              <a:t>domain/ (business objects)</a:t>
            </a:r>
          </a:p>
          <a:p>
            <a:pPr algn="ctr">
              <a:spcAft>
                <a:spcPts val="100"/>
              </a:spcAft>
            </a:pPr>
            <a:r>
              <a:rPr sz="1500" b="0">
                <a:solidFill>
                  <a:srgbClr val="FFFFFF"/>
                </a:solidFill>
                <a:latin typeface="Sarabun"/>
                <a:ea typeface="Sarabun"/>
                <a:cs typeface="Sarabun"/>
              </a:rPr>
              <a:t>กฎ BR-* ทั้งหมดอยู่ที่นี่</a:t>
            </a:r>
          </a:p>
          <a:p>
            <a:pPr algn="ctr">
              <a:spcAft>
                <a:spcPts val="100"/>
              </a:spcAft>
            </a:pPr>
            <a:r>
              <a:rPr sz="1500" b="0">
                <a:solidFill>
                  <a:srgbClr val="A6A6A6"/>
                </a:solidFill>
                <a:latin typeface="Sarabun"/>
                <a:ea typeface="Sarabun"/>
                <a:cs typeface="Sarabun"/>
              </a:rPr>
              <a:t>import ได้แค่ stdlib + กันเอง</a:t>
            </a:r>
          </a:p>
        </p:txBody>
      </p:sp>
      <p:cxnSp>
        <p:nvCxnSpPr>
          <p:cNvPr id="13" name="Connector 12"/>
          <p:cNvCxnSpPr/>
          <p:nvPr/>
        </p:nvCxnSpPr>
        <p:spPr>
          <a:xfrm>
            <a:off x="4064000" y="2374900"/>
            <a:ext cx="254000" cy="0"/>
          </a:xfrm>
          <a:prstGeom prst="line">
            <a:avLst/>
          </a:prstGeom>
          <a:ln w="2540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874000" y="2374900"/>
            <a:ext cx="254000" cy="0"/>
          </a:xfrm>
          <a:prstGeom prst="line">
            <a:avLst/>
          </a:prstGeom>
          <a:ln w="2540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8000" y="3302000"/>
            <a:ext cx="3556000" cy="330200"/>
          </a:xfrm>
          <a:prstGeom prst="rect">
            <a:avLst/>
          </a:prstGeom>
          <a:noFill/>
        </p:spPr>
        <p:txBody>
          <a:bodyPr wrap="square" anchor="t" lIns="50800" rIns="50800" tIns="25400" bIns="25400">
            <a:spAutoFit/>
          </a:bodyPr>
          <a:lstStyle/>
          <a:p>
            <a:pPr algn="ctr">
              <a:spcAft>
                <a:spcPts val="600"/>
              </a:spcAft>
            </a:pPr>
            <a:r>
              <a:rPr sz="1500" b="1">
                <a:solidFill>
                  <a:srgbClr val="B39DDB"/>
                </a:solidFill>
                <a:latin typeface="Sarabun"/>
                <a:ea typeface="Sarabun"/>
                <a:cs typeface="Sarabun"/>
              </a:rPr>
              <a:t>api → repository, domain</a:t>
            </a:r>
          </a:p>
        </p:txBody>
      </p:sp>
      <p:sp>
        <p:nvSpPr>
          <p:cNvPr id="16" name="TextBox 15"/>
          <p:cNvSpPr txBox="1"/>
          <p:nvPr/>
        </p:nvSpPr>
        <p:spPr>
          <a:xfrm>
            <a:off x="4318000" y="3302000"/>
            <a:ext cx="3556000" cy="330200"/>
          </a:xfrm>
          <a:prstGeom prst="rect">
            <a:avLst/>
          </a:prstGeom>
          <a:noFill/>
        </p:spPr>
        <p:txBody>
          <a:bodyPr wrap="square" anchor="t" lIns="50800" rIns="50800" tIns="25400" bIns="25400">
            <a:spAutoFit/>
          </a:bodyPr>
          <a:lstStyle/>
          <a:p>
            <a:pPr algn="ctr">
              <a:spcAft>
                <a:spcPts val="600"/>
              </a:spcAft>
            </a:pPr>
            <a:r>
              <a:rPr sz="1500" b="1">
                <a:solidFill>
                  <a:srgbClr val="B39DDB"/>
                </a:solidFill>
                <a:latin typeface="Sarabun"/>
                <a:ea typeface="Sarabun"/>
                <a:cs typeface="Sarabun"/>
              </a:rPr>
              <a:t>repository → domain</a:t>
            </a:r>
          </a:p>
        </p:txBody>
      </p:sp>
      <p:sp>
        <p:nvSpPr>
          <p:cNvPr id="17" name="TextBox 16"/>
          <p:cNvSpPr txBox="1"/>
          <p:nvPr/>
        </p:nvSpPr>
        <p:spPr>
          <a:xfrm>
            <a:off x="8128000" y="3302000"/>
            <a:ext cx="3556000" cy="330200"/>
          </a:xfrm>
          <a:prstGeom prst="rect">
            <a:avLst/>
          </a:prstGeom>
          <a:noFill/>
        </p:spPr>
        <p:txBody>
          <a:bodyPr wrap="square" anchor="t" lIns="50800" rIns="50800" tIns="25400" bIns="25400">
            <a:spAutoFit/>
          </a:bodyPr>
          <a:lstStyle/>
          <a:p>
            <a:pPr algn="ctr">
              <a:spcAft>
                <a:spcPts val="600"/>
              </a:spcAft>
            </a:pPr>
            <a:r>
              <a:rPr sz="1500" b="1">
                <a:solidFill>
                  <a:srgbClr val="FF8A80"/>
                </a:solidFill>
                <a:latin typeface="Sarabun"/>
                <a:ea typeface="Sarabun"/>
                <a:cs typeface="Sarabun"/>
              </a:rPr>
              <a:t>domain → ไม่มีใคร (กฎ)</a:t>
            </a:r>
          </a:p>
        </p:txBody>
      </p:sp>
      <p:sp>
        <p:nvSpPr>
          <p:cNvPr id="18" name="TextBox 17"/>
          <p:cNvSpPr txBox="1"/>
          <p:nvPr/>
        </p:nvSpPr>
        <p:spPr>
          <a:xfrm>
            <a:off x="508000" y="3937000"/>
            <a:ext cx="11176000" cy="1016000"/>
          </a:xfrm>
          <a:prstGeom prst="rect">
            <a:avLst/>
          </a:prstGeom>
          <a:noFill/>
        </p:spPr>
        <p:txBody>
          <a:bodyPr wrap="square" anchor="t" lIns="50800" rIns="50800" tIns="25400" bIns="25400">
            <a:spAutoFit/>
          </a:bodyPr>
          <a:lstStyle/>
          <a:p>
            <a:pPr algn="l">
              <a:spcAft>
                <a:spcPts val="800"/>
              </a:spcAft>
            </a:pPr>
            <a:r>
              <a:rPr sz="1700" b="0">
                <a:solidFill>
                  <a:srgbClr val="FFFFFF"/>
                </a:solidFill>
                <a:latin typeface="Sarabun"/>
                <a:ea typeface="Sarabun"/>
                <a:cs typeface="Sarabun"/>
              </a:rPr>
              <a:t>• ตรวจกฎได้: grep -r "from api\|from repository" domain/ ต้องว่างเปล่า (ตอนนี้ 0 บรรทัด)</a:t>
            </a:r>
          </a:p>
          <a:p>
            <a:pPr algn="l">
              <a:spcAft>
                <a:spcPts val="800"/>
              </a:spcAft>
            </a:pPr>
            <a:r>
              <a:rPr sz="1700" b="0">
                <a:solidFill>
                  <a:srgbClr val="FFFFFF"/>
                </a:solidFill>
                <a:latin typeface="Sarabun"/>
                <a:ea typeface="Sarabun"/>
                <a:cs typeface="Sarabun"/>
              </a:rPr>
              <a:t>• DB เปิด/ปิดที่จุดเดียว: get_db ใน api/deps.py ผ่าน Depends</a:t>
            </a:r>
          </a:p>
        </p:txBody>
      </p:sp>
      <p:sp>
        <p:nvSpPr>
          <p:cNvPr id="19" name="TextBox 18"/>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api/main.py (23 บรรทัด, factory) · api/deps.py · repository/db.py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แต่ละโฟลเดอร์มีหน้าที่เดียว</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โครงโฟลเดอร์</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B2</a:t>
            </a:r>
          </a:p>
        </p:txBody>
      </p:sp>
      <p:graphicFrame>
        <p:nvGraphicFramePr>
          <p:cNvPr id="7" name="Table 6"/>
          <p:cNvGraphicFramePr>
            <a:graphicFrameLocks noGrp="1"/>
          </p:cNvGraphicFramePr>
          <p:nvPr/>
        </p:nvGraphicFramePr>
        <p:xfrm>
          <a:off x="508000" y="1587500"/>
          <a:ext cx="11176000" cy="3657600"/>
        </p:xfrm>
        <a:graphic>
          <a:graphicData uri="http://schemas.openxmlformats.org/drawingml/2006/table">
            <a:tbl>
              <a:tblPr firstRow="1" bandRow="1">
                <a:tableStyleId>{5C22544A-7EE6-4342-B048-85BDC9FD1C3A}</a:tableStyleId>
              </a:tblPr>
              <a:tblGrid>
                <a:gridCol w="2286000"/>
                <a:gridCol w="8890000"/>
              </a:tblGrid>
              <a:tr h="457200">
                <a:tc>
                  <a:txBody>
                    <a:bodyPr/>
                    <a:lstStyle/>
                    <a:p>
                      <a:r>
                        <a:rPr sz="1500" b="1">
                          <a:solidFill>
                            <a:srgbClr val="FFFFFF"/>
                          </a:solidFill>
                          <a:latin typeface="Sarabun"/>
                          <a:ea typeface="Sarabun"/>
                          <a:cs typeface="Sarabun"/>
                        </a:rPr>
                        <a:t>โฟลเดอร์</a:t>
                      </a:r>
                    </a:p>
                  </a:txBody>
                  <a:tcPr marL="101600" marR="101600" marT="38100" marB="38100" anchor="ctr">
                    <a:solidFill>
                      <a:srgbClr val="000000"/>
                    </a:solidFill>
                  </a:tcPr>
                </a:tc>
                <a:tc>
                  <a:txBody>
                    <a:bodyPr/>
                    <a:lstStyle/>
                    <a:p>
                      <a:r>
                        <a:rPr sz="1500" b="1">
                          <a:solidFill>
                            <a:srgbClr val="FFFFFF"/>
                          </a:solidFill>
                          <a:latin typeface="Sarabun"/>
                          <a:ea typeface="Sarabun"/>
                          <a:cs typeface="Sarabun"/>
                        </a:rPr>
                        <a:t>หน้าที่</a:t>
                      </a:r>
                    </a:p>
                  </a:txBody>
                  <a:tcPr marL="101600" marR="101600" marT="38100" marB="38100" anchor="ctr">
                    <a:solidFill>
                      <a:srgbClr val="000000"/>
                    </a:solidFill>
                  </a:tcPr>
                </a:tc>
              </a:tr>
              <a:tr h="457200">
                <a:tc>
                  <a:txBody>
                    <a:bodyPr/>
                    <a:lstStyle/>
                    <a:p>
                      <a:r>
                        <a:rPr sz="1500" b="0">
                          <a:solidFill>
                            <a:srgbClr val="FFFFFF"/>
                          </a:solidFill>
                          <a:latin typeface="Sarabun"/>
                          <a:ea typeface="Sarabun"/>
                          <a:cs typeface="Sarabun"/>
                        </a:rPr>
                        <a:t>domain/</a:t>
                      </a:r>
                    </a:p>
                  </a:txBody>
                  <a:tcPr marL="101600" marR="101600" marT="38100" marB="38100" anchor="ctr">
                    <a:solidFill>
                      <a:srgbClr val="2B2B2B"/>
                    </a:solidFill>
                  </a:tcPr>
                </a:tc>
                <a:tc>
                  <a:txBody>
                    <a:bodyPr/>
                    <a:lstStyle/>
                    <a:p>
                      <a:r>
                        <a:rPr sz="1500" b="0">
                          <a:solidFill>
                            <a:srgbClr val="FFFFFF"/>
                          </a:solidFill>
                          <a:latin typeface="Sarabun"/>
                          <a:ea typeface="Sarabun"/>
                          <a:cs typeface="Sarabun"/>
                        </a:rPr>
                        <a:t>กติกาธุรกิจ: Person, Case, Appointment, Schedule, CaseAssignment, …</a:t>
                      </a:r>
                    </a:p>
                  </a:txBody>
                  <a:tcPr marL="101600" marR="101600" marT="38100" marB="38100" anchor="ctr">
                    <a:solidFill>
                      <a:srgbClr val="2B2B2B"/>
                    </a:solidFill>
                  </a:tcPr>
                </a:tc>
              </a:tr>
              <a:tr h="457200">
                <a:tc>
                  <a:txBody>
                    <a:bodyPr/>
                    <a:lstStyle/>
                    <a:p>
                      <a:r>
                        <a:rPr sz="1500" b="0">
                          <a:solidFill>
                            <a:srgbClr val="FFFFFF"/>
                          </a:solidFill>
                          <a:latin typeface="Sarabun"/>
                          <a:ea typeface="Sarabun"/>
                          <a:cs typeface="Sarabun"/>
                        </a:rPr>
                        <a:t>repository/</a:t>
                      </a:r>
                    </a:p>
                  </a:txBody>
                  <a:tcPr marL="101600" marR="101600" marT="38100" marB="38100" anchor="ctr">
                    <a:solidFill>
                      <a:srgbClr val="1E1E1E"/>
                    </a:solidFill>
                  </a:tcPr>
                </a:tc>
                <a:tc>
                  <a:txBody>
                    <a:bodyPr/>
                    <a:lstStyle/>
                    <a:p>
                      <a:r>
                        <a:rPr sz="1500" b="0">
                          <a:solidFill>
                            <a:srgbClr val="FFFFFF"/>
                          </a:solidFill>
                          <a:latin typeface="Sarabun"/>
                          <a:ea typeface="Sarabun"/>
                          <a:cs typeface="Sarabun"/>
                        </a:rPr>
                        <a:t>Repository class ต่อตาราง คุย MariaDB ตรงๆ ไม่ใช้ ORM</a:t>
                      </a:r>
                    </a:p>
                  </a:txBody>
                  <a:tcPr marL="101600" marR="101600" marT="38100" marB="38100" anchor="ctr">
                    <a:solidFill>
                      <a:srgbClr val="1E1E1E"/>
                    </a:solidFill>
                  </a:tcPr>
                </a:tc>
              </a:tr>
              <a:tr h="457200">
                <a:tc>
                  <a:txBody>
                    <a:bodyPr/>
                    <a:lstStyle/>
                    <a:p>
                      <a:r>
                        <a:rPr sz="1500" b="0">
                          <a:solidFill>
                            <a:srgbClr val="FFFFFF"/>
                          </a:solidFill>
                          <a:latin typeface="Sarabun"/>
                          <a:ea typeface="Sarabun"/>
                          <a:cs typeface="Sarabun"/>
                        </a:rPr>
                        <a:t>api/</a:t>
                      </a:r>
                    </a:p>
                  </a:txBody>
                  <a:tcPr marL="101600" marR="101600" marT="38100" marB="38100" anchor="ctr">
                    <a:solidFill>
                      <a:srgbClr val="2B2B2B"/>
                    </a:solidFill>
                  </a:tcPr>
                </a:tc>
                <a:tc>
                  <a:txBody>
                    <a:bodyPr/>
                    <a:lstStyle/>
                    <a:p>
                      <a:r>
                        <a:rPr sz="1500" b="0">
                          <a:solidFill>
                            <a:srgbClr val="FFFFFF"/>
                          </a:solidFill>
                          <a:latin typeface="Sarabun"/>
                          <a:ea typeface="Sarabun"/>
                          <a:cs typeface="Sarabun"/>
                        </a:rPr>
                        <a:t>main.py factory บางๆ · deps.py ของใช้ร่วม · routes/ · auth.py</a:t>
                      </a:r>
                    </a:p>
                  </a:txBody>
                  <a:tcPr marL="101600" marR="101600" marT="38100" marB="38100" anchor="ctr">
                    <a:solidFill>
                      <a:srgbClr val="2B2B2B"/>
                    </a:solidFill>
                  </a:tcPr>
                </a:tc>
              </a:tr>
              <a:tr h="457200">
                <a:tc>
                  <a:txBody>
                    <a:bodyPr/>
                    <a:lstStyle/>
                    <a:p>
                      <a:r>
                        <a:rPr sz="1500" b="0">
                          <a:solidFill>
                            <a:srgbClr val="FFFFFF"/>
                          </a:solidFill>
                          <a:latin typeface="Sarabun"/>
                          <a:ea typeface="Sarabun"/>
                          <a:cs typeface="Sarabun"/>
                        </a:rPr>
                        <a:t>templates/ · static/</a:t>
                      </a:r>
                    </a:p>
                  </a:txBody>
                  <a:tcPr marL="101600" marR="101600" marT="38100" marB="38100" anchor="ctr">
                    <a:solidFill>
                      <a:srgbClr val="1E1E1E"/>
                    </a:solidFill>
                  </a:tcPr>
                </a:tc>
                <a:tc>
                  <a:txBody>
                    <a:bodyPr/>
                    <a:lstStyle/>
                    <a:p>
                      <a:r>
                        <a:rPr sz="1500" b="0">
                          <a:solidFill>
                            <a:srgbClr val="FFFFFF"/>
                          </a:solidFill>
                          <a:latin typeface="Sarabun"/>
                          <a:ea typeface="Sarabun"/>
                          <a:cs typeface="Sarabun"/>
                        </a:rPr>
                        <a:t>Jinja2 (Pico.css + HTMX) · theme.css</a:t>
                      </a:r>
                    </a:p>
                  </a:txBody>
                  <a:tcPr marL="101600" marR="101600" marT="38100" marB="38100" anchor="ctr">
                    <a:solidFill>
                      <a:srgbClr val="1E1E1E"/>
                    </a:solidFill>
                  </a:tcPr>
                </a:tc>
              </a:tr>
              <a:tr h="457200">
                <a:tc>
                  <a:txBody>
                    <a:bodyPr/>
                    <a:lstStyle/>
                    <a:p>
                      <a:r>
                        <a:rPr sz="1500" b="0">
                          <a:solidFill>
                            <a:srgbClr val="FFFFFF"/>
                          </a:solidFill>
                          <a:latin typeface="Sarabun"/>
                          <a:ea typeface="Sarabun"/>
                          <a:cs typeface="Sarabun"/>
                        </a:rPr>
                        <a:t>db/</a:t>
                      </a:r>
                    </a:p>
                  </a:txBody>
                  <a:tcPr marL="101600" marR="101600" marT="38100" marB="38100" anchor="ctr">
                    <a:solidFill>
                      <a:srgbClr val="2B2B2B"/>
                    </a:solidFill>
                  </a:tcPr>
                </a:tc>
                <a:tc>
                  <a:txBody>
                    <a:bodyPr/>
                    <a:lstStyle/>
                    <a:p>
                      <a:r>
                        <a:rPr sz="1500" b="0">
                          <a:solidFill>
                            <a:srgbClr val="FFFFFF"/>
                          </a:solidFill>
                          <a:latin typeface="Sarabun"/>
                          <a:ea typeface="Sarabun"/>
                          <a:cs typeface="Sarabun"/>
                        </a:rPr>
                        <a:t>schema.sql · seed.sql · migrations/</a:t>
                      </a:r>
                    </a:p>
                  </a:txBody>
                  <a:tcPr marL="101600" marR="101600" marT="38100" marB="38100" anchor="ctr">
                    <a:solidFill>
                      <a:srgbClr val="2B2B2B"/>
                    </a:solidFill>
                  </a:tcPr>
                </a:tc>
              </a:tr>
              <a:tr h="457200">
                <a:tc>
                  <a:txBody>
                    <a:bodyPr/>
                    <a:lstStyle/>
                    <a:p>
                      <a:r>
                        <a:rPr sz="1500" b="0">
                          <a:solidFill>
                            <a:srgbClr val="FFFFFF"/>
                          </a:solidFill>
                          <a:latin typeface="Sarabun"/>
                          <a:ea typeface="Sarabun"/>
                          <a:cs typeface="Sarabun"/>
                        </a:rPr>
                        <a:t>tools/ · tests/</a:t>
                      </a:r>
                    </a:p>
                  </a:txBody>
                  <a:tcPr marL="101600" marR="101600" marT="38100" marB="38100" anchor="ctr">
                    <a:solidFill>
                      <a:srgbClr val="1E1E1E"/>
                    </a:solidFill>
                  </a:tcPr>
                </a:tc>
                <a:tc>
                  <a:txBody>
                    <a:bodyPr/>
                    <a:lstStyle/>
                    <a:p>
                      <a:r>
                        <a:rPr sz="1500" b="0">
                          <a:solidFill>
                            <a:srgbClr val="FFFFFF"/>
                          </a:solidFill>
                          <a:latin typeface="Sarabun"/>
                          <a:ea typeface="Sarabun"/>
                          <a:cs typeface="Sarabun"/>
                        </a:rPr>
                        <a:t>generate_seed.py สร้าง seed · pytest 90 เทส</a:t>
                      </a:r>
                    </a:p>
                  </a:txBody>
                  <a:tcPr marL="101600" marR="101600" marT="38100" marB="38100" anchor="ctr">
                    <a:solidFill>
                      <a:srgbClr val="1E1E1E"/>
                    </a:solidFill>
                  </a:tcPr>
                </a:tc>
              </a:tr>
              <a:tr h="457200">
                <a:tc>
                  <a:txBody>
                    <a:bodyPr/>
                    <a:lstStyle/>
                    <a:p>
                      <a:r>
                        <a:rPr sz="1500" b="0">
                          <a:solidFill>
                            <a:srgbClr val="FFFFFF"/>
                          </a:solidFill>
                          <a:latin typeface="Sarabun"/>
                          <a:ea typeface="Sarabun"/>
                          <a:cs typeface="Sarabun"/>
                        </a:rPr>
                        <a:t>docs/</a:t>
                      </a:r>
                    </a:p>
                  </a:txBody>
                  <a:tcPr marL="101600" marR="101600" marT="38100" marB="38100" anchor="ctr">
                    <a:solidFill>
                      <a:srgbClr val="2B2B2B"/>
                    </a:solidFill>
                  </a:tcPr>
                </a:tc>
                <a:tc>
                  <a:txBody>
                    <a:bodyPr/>
                    <a:lstStyle/>
                    <a:p>
                      <a:r>
                        <a:rPr sz="1500" b="0">
                          <a:solidFill>
                            <a:srgbClr val="FFFFFF"/>
                          </a:solidFill>
                          <a:latin typeface="Sarabun"/>
                          <a:ea typeface="Sarabun"/>
                          <a:cs typeface="Sarabun"/>
                        </a:rPr>
                        <a:t>proposal · backlog · uml · slides</a:t>
                      </a:r>
                    </a:p>
                  </a:txBody>
                  <a:tcPr marL="101600" marR="101600" marT="38100" marB="38100" anchor="ctr">
                    <a:solidFill>
                      <a:srgbClr val="2B2B2B"/>
                    </a:solidFill>
                  </a:tcPr>
                </a:tc>
              </a:tr>
            </a:tbl>
          </a:graphicData>
        </a:graphic>
      </p:graphicFrame>
      <p:sp>
        <p:nvSpPr>
          <p:cNvPr id="8" name="Rectangle 7"/>
          <p:cNvSpPr/>
          <p:nvPr/>
        </p:nvSpPr>
        <p:spPr>
          <a:xfrm>
            <a:off x="508000" y="5461000"/>
            <a:ext cx="11176000" cy="482600"/>
          </a:xfrm>
          <a:prstGeom prst="rect">
            <a:avLst/>
          </a:prstGeom>
          <a:solidFill>
            <a:srgbClr val="362D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000" y="5511800"/>
            <a:ext cx="10922000" cy="381000"/>
          </a:xfrm>
          <a:prstGeom prst="rect">
            <a:avLst/>
          </a:prstGeom>
          <a:noFill/>
        </p:spPr>
        <p:txBody>
          <a:bodyPr wrap="square" anchor="ctr" lIns="50800" rIns="50800" tIns="25400" bIns="25400">
            <a:spAutoFit/>
          </a:bodyPr>
          <a:lstStyle/>
          <a:p>
            <a:pPr algn="l">
              <a:spcAft>
                <a:spcPts val="600"/>
              </a:spcAft>
            </a:pPr>
            <a:r>
              <a:rPr sz="1700" b="1">
                <a:solidFill>
                  <a:srgbClr val="FFFFFF"/>
                </a:solidFill>
                <a:latin typeface="Sarabun"/>
                <a:ea typeface="Sarabun"/>
                <a:cs typeface="Sarabun"/>
              </a:rPr>
              <a:t>api/main.py 1,212 → 23 บรรทัด  ·  routes/ 7 โมดูล 39 routes</a:t>
            </a:r>
          </a:p>
        </p:txBody>
      </p:sp>
      <p:sp>
        <p:nvSpPr>
          <p:cNvPr id="10" name="TextBox 9"/>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README.md §โครงสร้างโปรเจกต์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SQL ทั้งหมดอยู่ใน repository/ · กฎทั้งหมดอยู่ใน domain/</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REPOSITORY PATTERN · Repository class ต่อตาราง</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B3</a:t>
            </a:r>
          </a:p>
        </p:txBody>
      </p:sp>
      <p:sp>
        <p:nvSpPr>
          <p:cNvPr id="7" name="Rectangle 6"/>
          <p:cNvSpPr/>
          <p:nvPr/>
        </p:nvSpPr>
        <p:spPr>
          <a:xfrm>
            <a:off x="508000" y="1524000"/>
            <a:ext cx="11176000" cy="7874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000" y="1625600"/>
            <a:ext cx="10922000" cy="5842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Menlo"/>
                <a:ea typeface="Sarabun"/>
                <a:cs typeface="Sarabun"/>
              </a:rPr>
              <a:t>cases = CaseRepository(conn)        # ถือ connection ไว้หนึ่งตัว</a:t>
            </a:r>
          </a:p>
          <a:p>
            <a:pPr algn="l">
              <a:spcAft>
                <a:spcPts val="200"/>
              </a:spcAft>
            </a:pPr>
            <a:r>
              <a:rPr sz="1400" b="0">
                <a:solidFill>
                  <a:srgbClr val="FFFFFF"/>
                </a:solidFill>
                <a:latin typeface="Menlo"/>
                <a:ea typeface="Sarabun"/>
                <a:cs typeface="Sarabun"/>
              </a:rPr>
              <a:t>case = cases.get_by_id(case_id)     # คืน object ไม่ใช่ dict/row</a:t>
            </a:r>
          </a:p>
        </p:txBody>
      </p:sp>
      <p:sp>
        <p:nvSpPr>
          <p:cNvPr id="9" name="Rectangle 8"/>
          <p:cNvSpPr/>
          <p:nvPr/>
        </p:nvSpPr>
        <p:spPr>
          <a:xfrm>
            <a:off x="508000" y="2463800"/>
            <a:ext cx="11176000" cy="7874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000" y="2565400"/>
            <a:ext cx="10922000" cy="5842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Menlo"/>
                <a:ea typeface="Sarabun"/>
                <a:cs typeface="Sarabun"/>
              </a:rPr>
              <a:t>_ROLE_TO_CLASS = {"lawyer": Lawyer, "manager": Manager, "admin": Admin}</a:t>
            </a:r>
          </a:p>
          <a:p>
            <a:pPr algn="l">
              <a:spcAft>
                <a:spcPts val="200"/>
              </a:spcAft>
            </a:pPr>
            <a:r>
              <a:rPr sz="1400" b="0">
                <a:solidFill>
                  <a:srgbClr val="FFFFFF"/>
                </a:solidFill>
                <a:latin typeface="Menlo"/>
                <a:ea typeface="Sarabun"/>
                <a:cs typeface="Sarabun"/>
              </a:rPr>
              <a:t>cls = _ROLE_TO_CLASS[row["role"]]   # อ่าน role แล้วสร้างให้ตรงคลาสลูก</a:t>
            </a:r>
          </a:p>
        </p:txBody>
      </p:sp>
      <p:sp>
        <p:nvSpPr>
          <p:cNvPr id="11" name="Rectangle 10"/>
          <p:cNvSpPr/>
          <p:nvPr/>
        </p:nvSpPr>
        <p:spPr>
          <a:xfrm>
            <a:off x="508000" y="3403600"/>
            <a:ext cx="11176000" cy="1270000"/>
          </a:xfrm>
          <a:prstGeom prst="rect">
            <a:avLst/>
          </a:prstGeom>
          <a:solidFill>
            <a:srgbClr val="161616"/>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000" y="3505200"/>
            <a:ext cx="10922000" cy="1066800"/>
          </a:xfrm>
          <a:prstGeom prst="rect">
            <a:avLst/>
          </a:prstGeom>
          <a:noFill/>
        </p:spPr>
        <p:txBody>
          <a:bodyPr wrap="square" anchor="t" lIns="50800" rIns="50800" tIns="25400" bIns="25400">
            <a:spAutoFit/>
          </a:bodyPr>
          <a:lstStyle/>
          <a:p>
            <a:pPr algn="l">
              <a:spcAft>
                <a:spcPts val="200"/>
              </a:spcAft>
            </a:pPr>
            <a:r>
              <a:rPr sz="1400" b="0">
                <a:solidFill>
                  <a:srgbClr val="A6A6A6"/>
                </a:solidFill>
                <a:latin typeface="Menlo"/>
                <a:ea typeface="Sarabun"/>
                <a:cs typeface="Sarabun"/>
              </a:rPr>
              <a:t># repository/case_repo.py: peer repo ใช้ connection เดียวกัน</a:t>
            </a:r>
          </a:p>
          <a:p>
            <a:pPr algn="l">
              <a:spcAft>
                <a:spcPts val="200"/>
              </a:spcAft>
            </a:pPr>
            <a:r>
              <a:rPr sz="1400" b="0">
                <a:solidFill>
                  <a:srgbClr val="FFFFFF"/>
                </a:solidFill>
                <a:latin typeface="Menlo"/>
                <a:ea typeface="Sarabun"/>
                <a:cs typeface="Sarabun"/>
              </a:rPr>
              <a:t>def __init__(self, conn, clients=None, users=None):</a:t>
            </a:r>
          </a:p>
          <a:p>
            <a:pPr algn="l">
              <a:spcAft>
                <a:spcPts val="200"/>
              </a:spcAft>
            </a:pPr>
            <a:r>
              <a:rPr sz="1400" b="0">
                <a:solidFill>
                  <a:srgbClr val="FFFFFF"/>
                </a:solidFill>
                <a:latin typeface="Menlo"/>
                <a:ea typeface="Sarabun"/>
                <a:cs typeface="Sarabun"/>
              </a:rPr>
              <a:t>    self._conn = conn</a:t>
            </a:r>
          </a:p>
          <a:p>
            <a:pPr algn="l">
              <a:spcAft>
                <a:spcPts val="200"/>
              </a:spcAft>
            </a:pPr>
            <a:r>
              <a:rPr sz="1400" b="0">
                <a:solidFill>
                  <a:srgbClr val="FFFFFF"/>
                </a:solidFill>
                <a:latin typeface="Menlo"/>
                <a:ea typeface="Sarabun"/>
                <a:cs typeface="Sarabun"/>
              </a:rPr>
              <a:t>    self._clients = clients or ClientRepository(conn)</a:t>
            </a:r>
          </a:p>
        </p:txBody>
      </p:sp>
      <p:sp>
        <p:nvSpPr>
          <p:cNvPr id="13" name="TextBox 12"/>
          <p:cNvSpPr txBox="1"/>
          <p:nvPr/>
        </p:nvSpPr>
        <p:spPr>
          <a:xfrm>
            <a:off x="508000" y="4889500"/>
            <a:ext cx="11176000" cy="889000"/>
          </a:xfrm>
          <a:prstGeom prst="rect">
            <a:avLst/>
          </a:prstGeom>
          <a:noFill/>
        </p:spPr>
        <p:txBody>
          <a:bodyPr wrap="square" anchor="t" lIns="50800" rIns="50800" tIns="25400" bIns="25400">
            <a:spAutoFit/>
          </a:bodyPr>
          <a:lstStyle/>
          <a:p>
            <a:pPr algn="l">
              <a:spcAft>
                <a:spcPts val="600"/>
              </a:spcAft>
            </a:pPr>
            <a:r>
              <a:rPr sz="1600" b="0">
                <a:solidFill>
                  <a:srgbClr val="FFFFFF"/>
                </a:solidFill>
                <a:latin typeface="Sarabun"/>
                <a:ea typeface="Sarabun"/>
                <a:cs typeface="Sarabun"/>
              </a:rPr>
              <a:t>• ทำไมไม่ใช้ ORM: โปรเจกต์เล็ก SQL ตรงๆ อ่านง่ายกว่า</a:t>
            </a:r>
          </a:p>
          <a:p>
            <a:pPr algn="l">
              <a:spcAft>
                <a:spcPts val="600"/>
              </a:spcAft>
            </a:pPr>
            <a:r>
              <a:rPr sz="1600" b="0">
                <a:solidFill>
                  <a:srgbClr val="FFFFFF"/>
                </a:solidFill>
                <a:latin typeface="Sarabun"/>
                <a:ea typeface="Sarabun"/>
                <a:cs typeface="Sarabun"/>
              </a:rPr>
              <a:t>• ย้ายฐานข้อมูล: แก้ที่ repository/ ที่เดียว</a:t>
            </a:r>
          </a:p>
        </p:txBody>
      </p:sp>
      <p:sp>
        <p:nvSpPr>
          <p:cNvPr id="14" name="TextBox 13"/>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repository/case_repo.py · repository/user_repo.py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flow เดียวกันบนหน้าจอจริง</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มอบหมาย → รับ / ปฏิเสธ → จัดการคดี</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B4</a:t>
            </a:r>
          </a:p>
        </p:txBody>
      </p:sp>
      <p:sp>
        <p:nvSpPr>
          <p:cNvPr id="7" name="TextBox 6"/>
          <p:cNvSpPr txBox="1"/>
          <p:nvPr/>
        </p:nvSpPr>
        <p:spPr>
          <a:xfrm>
            <a:off x="508000" y="1498600"/>
            <a:ext cx="3556000" cy="330200"/>
          </a:xfrm>
          <a:prstGeom prst="rect">
            <a:avLst/>
          </a:prstGeom>
          <a:noFill/>
        </p:spPr>
        <p:txBody>
          <a:bodyPr wrap="square" anchor="t" lIns="50800" rIns="50800" tIns="25400" bIns="25400">
            <a:spAutoFit/>
          </a:bodyPr>
          <a:lstStyle/>
          <a:p>
            <a:pPr algn="l">
              <a:spcAft>
                <a:spcPts val="600"/>
              </a:spcAft>
            </a:pPr>
            <a:r>
              <a:rPr sz="1600" b="1">
                <a:solidFill>
                  <a:srgbClr val="B39DDB"/>
                </a:solidFill>
                <a:latin typeface="Sarabun"/>
                <a:ea typeface="Sarabun"/>
                <a:cs typeface="Sarabun"/>
              </a:rPr>
              <a:t>1. มอบหมายทนาย</a:t>
            </a:r>
          </a:p>
        </p:txBody>
      </p:sp>
      <p:sp>
        <p:nvSpPr>
          <p:cNvPr id="8" name="Rectangle 7"/>
          <p:cNvSpPr/>
          <p:nvPr/>
        </p:nvSpPr>
        <p:spPr>
          <a:xfrm>
            <a:off x="488950" y="2286171"/>
            <a:ext cx="3594100" cy="2412657"/>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nager_assign.png"/>
          <p:cNvPicPr>
            <a:picLocks noChangeAspect="1"/>
          </p:cNvPicPr>
          <p:nvPr/>
        </p:nvPicPr>
        <p:blipFill>
          <a:blip r:embed="rId3"/>
          <a:srcRect b="20000"/>
          <a:stretch>
            <a:fillRect/>
          </a:stretch>
        </p:blipFill>
        <p:spPr>
          <a:xfrm>
            <a:off x="508000" y="2305221"/>
            <a:ext cx="3556000" cy="2374557"/>
          </a:xfrm>
          <a:prstGeom prst="rect">
            <a:avLst/>
          </a:prstGeom>
        </p:spPr>
      </p:pic>
      <p:sp>
        <p:nvSpPr>
          <p:cNvPr id="10" name="TextBox 9"/>
          <p:cNvSpPr txBox="1"/>
          <p:nvPr/>
        </p:nvSpPr>
        <p:spPr>
          <a:xfrm>
            <a:off x="508000" y="5181600"/>
            <a:ext cx="3556000" cy="558800"/>
          </a:xfrm>
          <a:prstGeom prst="rect">
            <a:avLst/>
          </a:prstGeom>
          <a:noFill/>
        </p:spPr>
        <p:txBody>
          <a:bodyPr wrap="square" anchor="t" lIns="50800" rIns="50800" tIns="25400" bIns="25400">
            <a:spAutoFit/>
          </a:bodyPr>
          <a:lstStyle/>
          <a:p>
            <a:pPr algn="ctr">
              <a:spcAft>
                <a:spcPts val="600"/>
              </a:spcAft>
            </a:pPr>
            <a:r>
              <a:rPr sz="1400" b="0">
                <a:solidFill>
                  <a:srgbClr val="A6A6A6"/>
                </a:solidFill>
                <a:latin typeface="Sarabun"/>
                <a:ea typeface="Sarabun"/>
                <a:cs typeface="Sarabun"/>
              </a:rPr>
              <a:t>ผู้จัดการเห็นภาระงานทุกคนก่อนเลือก</a:t>
            </a:r>
          </a:p>
        </p:txBody>
      </p:sp>
      <p:sp>
        <p:nvSpPr>
          <p:cNvPr id="11" name="TextBox 10"/>
          <p:cNvSpPr txBox="1"/>
          <p:nvPr/>
        </p:nvSpPr>
        <p:spPr>
          <a:xfrm>
            <a:off x="4318000" y="1498600"/>
            <a:ext cx="3556000" cy="330200"/>
          </a:xfrm>
          <a:prstGeom prst="rect">
            <a:avLst/>
          </a:prstGeom>
          <a:noFill/>
        </p:spPr>
        <p:txBody>
          <a:bodyPr wrap="square" anchor="t" lIns="50800" rIns="50800" tIns="25400" bIns="25400">
            <a:spAutoFit/>
          </a:bodyPr>
          <a:lstStyle/>
          <a:p>
            <a:pPr algn="l">
              <a:spcAft>
                <a:spcPts val="600"/>
              </a:spcAft>
            </a:pPr>
            <a:r>
              <a:rPr sz="1600" b="1">
                <a:solidFill>
                  <a:srgbClr val="B39DDB"/>
                </a:solidFill>
                <a:latin typeface="Sarabun"/>
                <a:ea typeface="Sarabun"/>
                <a:cs typeface="Sarabun"/>
              </a:rPr>
              <a:t>2. รับ / ปฏิเสธ</a:t>
            </a:r>
          </a:p>
        </p:txBody>
      </p:sp>
      <p:sp>
        <p:nvSpPr>
          <p:cNvPr id="12" name="Rectangle 11"/>
          <p:cNvSpPr/>
          <p:nvPr/>
        </p:nvSpPr>
        <p:spPr>
          <a:xfrm>
            <a:off x="4298950" y="2834283"/>
            <a:ext cx="3594100" cy="1316433"/>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pending_dialog.png"/>
          <p:cNvPicPr>
            <a:picLocks noChangeAspect="1"/>
          </p:cNvPicPr>
          <p:nvPr/>
        </p:nvPicPr>
        <p:blipFill>
          <a:blip r:embed="rId4"/>
          <a:srcRect/>
          <a:stretch>
            <a:fillRect/>
          </a:stretch>
        </p:blipFill>
        <p:spPr>
          <a:xfrm>
            <a:off x="4318000" y="2853333"/>
            <a:ext cx="3556000" cy="1278333"/>
          </a:xfrm>
          <a:prstGeom prst="rect">
            <a:avLst/>
          </a:prstGeom>
        </p:spPr>
      </p:pic>
      <p:sp>
        <p:nvSpPr>
          <p:cNvPr id="14" name="TextBox 13"/>
          <p:cNvSpPr txBox="1"/>
          <p:nvPr/>
        </p:nvSpPr>
        <p:spPr>
          <a:xfrm>
            <a:off x="4318000" y="5181600"/>
            <a:ext cx="3556000" cy="558800"/>
          </a:xfrm>
          <a:prstGeom prst="rect">
            <a:avLst/>
          </a:prstGeom>
          <a:noFill/>
        </p:spPr>
        <p:txBody>
          <a:bodyPr wrap="square" anchor="t" lIns="50800" rIns="50800" tIns="25400" bIns="25400">
            <a:spAutoFit/>
          </a:bodyPr>
          <a:lstStyle/>
          <a:p>
            <a:pPr algn="ctr">
              <a:spcAft>
                <a:spcPts val="600"/>
              </a:spcAft>
            </a:pPr>
            <a:r>
              <a:rPr sz="1400" b="0">
                <a:solidFill>
                  <a:srgbClr val="A6A6A6"/>
                </a:solidFill>
                <a:latin typeface="Sarabun"/>
                <a:ea typeface="Sarabun"/>
                <a:cs typeface="Sarabun"/>
              </a:rPr>
              <a:t>popup คดีรอตอบรับ: accept() · decline()</a:t>
            </a:r>
          </a:p>
        </p:txBody>
      </p:sp>
      <p:sp>
        <p:nvSpPr>
          <p:cNvPr id="15" name="TextBox 14"/>
          <p:cNvSpPr txBox="1"/>
          <p:nvPr/>
        </p:nvSpPr>
        <p:spPr>
          <a:xfrm>
            <a:off x="8128000" y="1498600"/>
            <a:ext cx="3556000" cy="330200"/>
          </a:xfrm>
          <a:prstGeom prst="rect">
            <a:avLst/>
          </a:prstGeom>
          <a:noFill/>
        </p:spPr>
        <p:txBody>
          <a:bodyPr wrap="square" anchor="t" lIns="50800" rIns="50800" tIns="25400" bIns="25400">
            <a:spAutoFit/>
          </a:bodyPr>
          <a:lstStyle/>
          <a:p>
            <a:pPr algn="l">
              <a:spcAft>
                <a:spcPts val="600"/>
              </a:spcAft>
            </a:pPr>
            <a:r>
              <a:rPr sz="1600" b="1">
                <a:solidFill>
                  <a:srgbClr val="B39DDB"/>
                </a:solidFill>
                <a:latin typeface="Sarabun"/>
                <a:ea typeface="Sarabun"/>
                <a:cs typeface="Sarabun"/>
              </a:rPr>
              <a:t>3. นัด · เลื่อนสถานะ · ขอถอนตัว</a:t>
            </a:r>
          </a:p>
        </p:txBody>
      </p:sp>
      <p:sp>
        <p:nvSpPr>
          <p:cNvPr id="16" name="Rectangle 15"/>
          <p:cNvSpPr/>
          <p:nvPr/>
        </p:nvSpPr>
        <p:spPr>
          <a:xfrm>
            <a:off x="8108950" y="2190392"/>
            <a:ext cx="3594100" cy="2604214"/>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case_detail.png"/>
          <p:cNvPicPr>
            <a:picLocks noChangeAspect="1"/>
          </p:cNvPicPr>
          <p:nvPr/>
        </p:nvPicPr>
        <p:blipFill>
          <a:blip r:embed="rId5"/>
          <a:srcRect b="35000"/>
          <a:stretch>
            <a:fillRect/>
          </a:stretch>
        </p:blipFill>
        <p:spPr>
          <a:xfrm>
            <a:off x="8128000" y="2209442"/>
            <a:ext cx="3556000" cy="2566114"/>
          </a:xfrm>
          <a:prstGeom prst="rect">
            <a:avLst/>
          </a:prstGeom>
        </p:spPr>
      </p:pic>
      <p:sp>
        <p:nvSpPr>
          <p:cNvPr id="18" name="TextBox 17"/>
          <p:cNvSpPr txBox="1"/>
          <p:nvPr/>
        </p:nvSpPr>
        <p:spPr>
          <a:xfrm>
            <a:off x="8128000" y="5181600"/>
            <a:ext cx="3556000" cy="558800"/>
          </a:xfrm>
          <a:prstGeom prst="rect">
            <a:avLst/>
          </a:prstGeom>
          <a:noFill/>
        </p:spPr>
        <p:txBody>
          <a:bodyPr wrap="square" anchor="t" lIns="50800" rIns="50800" tIns="25400" bIns="25400">
            <a:spAutoFit/>
          </a:bodyPr>
          <a:lstStyle/>
          <a:p>
            <a:pPr algn="ctr">
              <a:spcAft>
                <a:spcPts val="600"/>
              </a:spcAft>
            </a:pPr>
            <a:r>
              <a:rPr sz="1400" b="0">
                <a:solidFill>
                  <a:srgbClr val="A6A6A6"/>
                </a:solidFill>
                <a:latin typeface="Sarabun"/>
                <a:ea typeface="Sarabun"/>
                <a:cs typeface="Sarabun"/>
              </a:rPr>
              <a:t>หน้าคดีหลังทนายรับงาน</a:t>
            </a:r>
          </a:p>
        </p:txBody>
      </p:sp>
      <p:sp>
        <p:nvSpPr>
          <p:cNvPr id="19" name="TextBox 18"/>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ภาพจาก http://localhost:8000 (ข้อมูล seed) · manager1 และ lawyer1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90 เทส: domain เทสโดยไม่ใช้ DB · เทส DB ใช้ฐานแยก</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TESTING · เคยล้างฐานจริงมาแล้วหนึ่งครั้ง</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B5</a:t>
            </a:r>
          </a:p>
        </p:txBody>
      </p:sp>
      <p:graphicFrame>
        <p:nvGraphicFramePr>
          <p:cNvPr id="7" name="Table 6"/>
          <p:cNvGraphicFramePr>
            <a:graphicFrameLocks noGrp="1"/>
          </p:cNvGraphicFramePr>
          <p:nvPr/>
        </p:nvGraphicFramePr>
        <p:xfrm>
          <a:off x="508000" y="1524000"/>
          <a:ext cx="6096000" cy="3048000"/>
        </p:xfrm>
        <a:graphic>
          <a:graphicData uri="http://schemas.openxmlformats.org/drawingml/2006/table">
            <a:tbl>
              <a:tblPr firstRow="1" bandRow="1">
                <a:tableStyleId>{5C22544A-7EE6-4342-B048-85BDC9FD1C3A}</a:tableStyleId>
              </a:tblPr>
              <a:tblGrid>
                <a:gridCol w="2032000"/>
                <a:gridCol w="1016000"/>
                <a:gridCol w="2032000"/>
                <a:gridCol w="1016000"/>
              </a:tblGrid>
              <a:tr h="508000">
                <a:tc>
                  <a:txBody>
                    <a:bodyPr/>
                    <a:lstStyle/>
                    <a:p>
                      <a:r>
                        <a:rPr sz="1600" b="1">
                          <a:solidFill>
                            <a:srgbClr val="FFFFFF"/>
                          </a:solidFill>
                          <a:latin typeface="Sarabun"/>
                          <a:ea typeface="Sarabun"/>
                          <a:cs typeface="Sarabun"/>
                        </a:rPr>
                        <a:t>ไฟล์</a:t>
                      </a:r>
                    </a:p>
                  </a:txBody>
                  <a:tcPr marL="101600" marR="101600" marT="38100" marB="38100" anchor="ctr">
                    <a:solidFill>
                      <a:srgbClr val="000000"/>
                    </a:solidFill>
                  </a:tcPr>
                </a:tc>
                <a:tc>
                  <a:txBody>
                    <a:bodyPr/>
                    <a:lstStyle/>
                    <a:p>
                      <a:r>
                        <a:rPr sz="1600" b="1">
                          <a:solidFill>
                            <a:srgbClr val="FFFFFF"/>
                          </a:solidFill>
                          <a:latin typeface="Sarabun"/>
                          <a:ea typeface="Sarabun"/>
                          <a:cs typeface="Sarabun"/>
                        </a:rPr>
                        <a:t>จำนวน</a:t>
                      </a:r>
                    </a:p>
                  </a:txBody>
                  <a:tcPr marL="101600" marR="101600" marT="38100" marB="38100" anchor="ctr">
                    <a:solidFill>
                      <a:srgbClr val="000000"/>
                    </a:solidFill>
                  </a:tcPr>
                </a:tc>
                <a:tc>
                  <a:txBody>
                    <a:bodyPr/>
                    <a:lstStyle/>
                    <a:p>
                      <a:r>
                        <a:rPr sz="1600" b="1">
                          <a:solidFill>
                            <a:srgbClr val="FFFFFF"/>
                          </a:solidFill>
                          <a:latin typeface="Sarabun"/>
                          <a:ea typeface="Sarabun"/>
                          <a:cs typeface="Sarabun"/>
                        </a:rPr>
                        <a:t>ไฟล์</a:t>
                      </a:r>
                    </a:p>
                  </a:txBody>
                  <a:tcPr marL="101600" marR="101600" marT="38100" marB="38100" anchor="ctr">
                    <a:solidFill>
                      <a:srgbClr val="000000"/>
                    </a:solidFill>
                  </a:tcPr>
                </a:tc>
                <a:tc>
                  <a:txBody>
                    <a:bodyPr/>
                    <a:lstStyle/>
                    <a:p>
                      <a:r>
                        <a:rPr sz="1600" b="1">
                          <a:solidFill>
                            <a:srgbClr val="FFFFFF"/>
                          </a:solidFill>
                          <a:latin typeface="Sarabun"/>
                          <a:ea typeface="Sarabun"/>
                          <a:cs typeface="Sarabun"/>
                        </a:rPr>
                        <a:t>จำนวน</a:t>
                      </a:r>
                    </a:p>
                  </a:txBody>
                  <a:tcPr marL="101600" marR="101600" marT="38100" marB="38100" anchor="ctr">
                    <a:solidFill>
                      <a:srgbClr val="000000"/>
                    </a:solidFill>
                  </a:tcPr>
                </a:tc>
              </a:tr>
              <a:tr h="508000">
                <a:tc>
                  <a:txBody>
                    <a:bodyPr/>
                    <a:lstStyle/>
                    <a:p>
                      <a:r>
                        <a:rPr sz="1600" b="0">
                          <a:solidFill>
                            <a:srgbClr val="FFFFFF"/>
                          </a:solidFill>
                          <a:latin typeface="Sarabun"/>
                          <a:ea typeface="Sarabun"/>
                          <a:cs typeface="Sarabun"/>
                        </a:rPr>
                        <a:t>appointment</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10</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assignment</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19</a:t>
                      </a:r>
                    </a:p>
                  </a:txBody>
                  <a:tcPr marL="101600" marR="101600" marT="38100" marB="38100" anchor="ctr">
                    <a:solidFill>
                      <a:srgbClr val="2B2B2B"/>
                    </a:solidFill>
                  </a:tcPr>
                </a:tc>
              </a:tr>
              <a:tr h="508000">
                <a:tc>
                  <a:txBody>
                    <a:bodyPr/>
                    <a:lstStyle/>
                    <a:p>
                      <a:r>
                        <a:rPr sz="1600" b="0">
                          <a:solidFill>
                            <a:srgbClr val="FFFFFF"/>
                          </a:solidFill>
                          <a:latin typeface="Sarabun"/>
                          <a:ea typeface="Sarabun"/>
                          <a:cs typeface="Sarabun"/>
                        </a:rPr>
                        <a:t>case</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19</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person</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8</a:t>
                      </a:r>
                    </a:p>
                  </a:txBody>
                  <a:tcPr marL="101600" marR="101600" marT="38100" marB="38100" anchor="ctr">
                    <a:solidFill>
                      <a:srgbClr val="1E1E1E"/>
                    </a:solidFill>
                  </a:tcPr>
                </a:tc>
              </a:tr>
              <a:tr h="508000">
                <a:tc>
                  <a:txBody>
                    <a:bodyPr/>
                    <a:lstStyle/>
                    <a:p>
                      <a:r>
                        <a:rPr sz="1600" b="0">
                          <a:solidFill>
                            <a:srgbClr val="FFFFFF"/>
                          </a:solidFill>
                          <a:latin typeface="Sarabun"/>
                          <a:ea typeface="Sarabun"/>
                          <a:cs typeface="Sarabun"/>
                        </a:rPr>
                        <a:t>schedule</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12</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auth</a:t>
                      </a:r>
                    </a:p>
                  </a:txBody>
                  <a:tcPr marL="101600" marR="101600" marT="38100" marB="38100" anchor="ctr">
                    <a:solidFill>
                      <a:srgbClr val="2B2B2B"/>
                    </a:solidFill>
                  </a:tcPr>
                </a:tc>
                <a:tc>
                  <a:txBody>
                    <a:bodyPr/>
                    <a:lstStyle/>
                    <a:p>
                      <a:r>
                        <a:rPr sz="1600" b="0">
                          <a:solidFill>
                            <a:srgbClr val="FFFFFF"/>
                          </a:solidFill>
                          <a:latin typeface="Sarabun"/>
                          <a:ea typeface="Sarabun"/>
                          <a:cs typeface="Sarabun"/>
                        </a:rPr>
                        <a:t>6</a:t>
                      </a:r>
                    </a:p>
                  </a:txBody>
                  <a:tcPr marL="101600" marR="101600" marT="38100" marB="38100" anchor="ctr">
                    <a:solidFill>
                      <a:srgbClr val="2B2B2B"/>
                    </a:solidFill>
                  </a:tcPr>
                </a:tc>
              </a:tr>
              <a:tr h="508000">
                <a:tc>
                  <a:txBody>
                    <a:bodyPr/>
                    <a:lstStyle/>
                    <a:p>
                      <a:r>
                        <a:rPr sz="1600" b="0">
                          <a:solidFill>
                            <a:srgbClr val="FFFFFF"/>
                          </a:solidFill>
                          <a:latin typeface="Sarabun"/>
                          <a:ea typeface="Sarabun"/>
                          <a:cs typeface="Sarabun"/>
                        </a:rPr>
                        <a:t>repository</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12</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db_safety</a:t>
                      </a:r>
                    </a:p>
                  </a:txBody>
                  <a:tcPr marL="101600" marR="101600" marT="38100" marB="38100" anchor="ctr">
                    <a:solidFill>
                      <a:srgbClr val="1E1E1E"/>
                    </a:solidFill>
                  </a:tcPr>
                </a:tc>
                <a:tc>
                  <a:txBody>
                    <a:bodyPr/>
                    <a:lstStyle/>
                    <a:p>
                      <a:r>
                        <a:rPr sz="1600" b="0">
                          <a:solidFill>
                            <a:srgbClr val="FFFFFF"/>
                          </a:solidFill>
                          <a:latin typeface="Sarabun"/>
                          <a:ea typeface="Sarabun"/>
                          <a:cs typeface="Sarabun"/>
                        </a:rPr>
                        <a:t>4</a:t>
                      </a:r>
                    </a:p>
                  </a:txBody>
                  <a:tcPr marL="101600" marR="101600" marT="38100" marB="38100" anchor="ctr">
                    <a:solidFill>
                      <a:srgbClr val="1E1E1E"/>
                    </a:solidFill>
                  </a:tcPr>
                </a:tc>
              </a:tr>
              <a:tr h="508000">
                <a:tc>
                  <a:txBody>
                    <a:bodyPr/>
                    <a:lstStyle/>
                    <a:p>
                      <a:r>
                        <a:rPr sz="1600" b="1">
                          <a:solidFill>
                            <a:srgbClr val="FFFFFF"/>
                          </a:solidFill>
                          <a:latin typeface="Sarabun"/>
                          <a:ea typeface="Sarabun"/>
                          <a:cs typeface="Sarabun"/>
                        </a:rPr>
                        <a:t>รวม</a:t>
                      </a:r>
                    </a:p>
                  </a:txBody>
                  <a:tcPr marL="101600" marR="101600" marT="38100" marB="38100" anchor="ctr">
                    <a:solidFill>
                      <a:srgbClr val="2B2B2B"/>
                    </a:solidFill>
                  </a:tcPr>
                </a:tc>
                <a:tc>
                  <a:txBody>
                    <a:bodyPr/>
                    <a:lstStyle/>
                    <a:p>
                      <a:r>
                        <a:rPr sz="1600" b="1">
                          <a:solidFill>
                            <a:srgbClr val="FFFFFF"/>
                          </a:solidFill>
                          <a:latin typeface="Sarabun"/>
                          <a:ea typeface="Sarabun"/>
                          <a:cs typeface="Sarabun"/>
                        </a:rPr>
                        <a:t/>
                      </a:r>
                    </a:p>
                  </a:txBody>
                  <a:tcPr marL="101600" marR="101600" marT="38100" marB="38100" anchor="ctr">
                    <a:solidFill>
                      <a:srgbClr val="2B2B2B"/>
                    </a:solidFill>
                  </a:tcPr>
                </a:tc>
                <a:tc>
                  <a:txBody>
                    <a:bodyPr/>
                    <a:lstStyle/>
                    <a:p>
                      <a:r>
                        <a:rPr sz="1600" b="1">
                          <a:solidFill>
                            <a:srgbClr val="FFFFFF"/>
                          </a:solidFill>
                          <a:latin typeface="Sarabun"/>
                          <a:ea typeface="Sarabun"/>
                          <a:cs typeface="Sarabun"/>
                        </a:rPr>
                        <a:t/>
                      </a:r>
                    </a:p>
                  </a:txBody>
                  <a:tcPr marL="101600" marR="101600" marT="38100" marB="38100" anchor="ctr">
                    <a:solidFill>
                      <a:srgbClr val="2B2B2B"/>
                    </a:solidFill>
                  </a:tcPr>
                </a:tc>
                <a:tc>
                  <a:txBody>
                    <a:bodyPr/>
                    <a:lstStyle/>
                    <a:p>
                      <a:r>
                        <a:rPr sz="1600" b="1">
                          <a:solidFill>
                            <a:srgbClr val="FFFFFF"/>
                          </a:solidFill>
                          <a:latin typeface="Sarabun"/>
                          <a:ea typeface="Sarabun"/>
                          <a:cs typeface="Sarabun"/>
                        </a:rPr>
                        <a:t>90</a:t>
                      </a:r>
                    </a:p>
                  </a:txBody>
                  <a:tcPr marL="101600" marR="101600" marT="38100" marB="38100" anchor="ctr">
                    <a:solidFill>
                      <a:srgbClr val="2B2B2B"/>
                    </a:solidFill>
                  </a:tcPr>
                </a:tc>
              </a:tr>
            </a:tbl>
          </a:graphicData>
        </a:graphic>
      </p:graphicFrame>
      <p:sp>
        <p:nvSpPr>
          <p:cNvPr id="8" name="Rectangle 7"/>
          <p:cNvSpPr/>
          <p:nvPr/>
        </p:nvSpPr>
        <p:spPr>
          <a:xfrm>
            <a:off x="6858000" y="1524000"/>
            <a:ext cx="4826000" cy="3048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701800"/>
            <a:ext cx="4368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บทเรียนจริง</a:t>
            </a:r>
          </a:p>
        </p:txBody>
      </p:sp>
      <p:sp>
        <p:nvSpPr>
          <p:cNvPr id="10" name="TextBox 9"/>
          <p:cNvSpPr txBox="1"/>
          <p:nvPr/>
        </p:nvSpPr>
        <p:spPr>
          <a:xfrm>
            <a:off x="7086600" y="2209800"/>
            <a:ext cx="4368800" cy="2260600"/>
          </a:xfrm>
          <a:prstGeom prst="rect">
            <a:avLst/>
          </a:prstGeom>
          <a:noFill/>
        </p:spPr>
        <p:txBody>
          <a:bodyPr wrap="square" anchor="t" lIns="50800" rIns="50800" tIns="25400" bIns="25400">
            <a:spAutoFit/>
          </a:bodyPr>
          <a:lstStyle/>
          <a:p>
            <a:pPr algn="l">
              <a:spcAft>
                <a:spcPts val="800"/>
              </a:spcAft>
            </a:pPr>
            <a:r>
              <a:rPr sz="1500" b="0">
                <a:solidFill>
                  <a:srgbClr val="FFFFFF"/>
                </a:solidFill>
                <a:latin typeface="Sarabun"/>
                <a:ea typeface="Sarabun"/>
                <a:cs typeface="Sarabun"/>
              </a:rPr>
              <a:t>fixture เคย TRUNCATE ฐาน lawfirm-db ของแอป</a:t>
            </a:r>
          </a:p>
          <a:p>
            <a:pPr algn="l">
              <a:spcAft>
                <a:spcPts val="800"/>
              </a:spcAft>
            </a:pPr>
            <a:r>
              <a:rPr sz="1500" b="0">
                <a:solidFill>
                  <a:srgbClr val="FFFFFF"/>
                </a:solidFill>
                <a:latin typeface="Sarabun"/>
                <a:ea typeface="Sarabun"/>
                <a:cs typeface="Sarabun"/>
              </a:rPr>
              <a:t>ตอนนี้เทสใช้ lawfirm_test สร้าง + ลง schema เอง</a:t>
            </a:r>
          </a:p>
          <a:p>
            <a:pPr algn="l">
              <a:spcAft>
                <a:spcPts val="800"/>
              </a:spcAft>
            </a:pPr>
            <a:r>
              <a:rPr sz="1500" b="0">
                <a:solidFill>
                  <a:srgbClr val="FFFFFF"/>
                </a:solidFill>
                <a:latin typeface="Sarabun"/>
                <a:ea typeface="Sarabun"/>
                <a:cs typeface="Sarabun"/>
              </a:rPr>
              <a:t>guard pytest.fail ก่อน TRUNCATE ถ้าชื่อชน</a:t>
            </a:r>
          </a:p>
        </p:txBody>
      </p:sp>
      <p:sp>
        <p:nvSpPr>
          <p:cNvPr id="11" name="TextBox 10"/>
          <p:cNvSpPr txBox="1"/>
          <p:nvPr/>
        </p:nvSpPr>
        <p:spPr>
          <a:xfrm>
            <a:off x="508000" y="4826000"/>
            <a:ext cx="11176000" cy="762000"/>
          </a:xfrm>
          <a:prstGeom prst="rect">
            <a:avLst/>
          </a:prstGeom>
          <a:noFill/>
        </p:spPr>
        <p:txBody>
          <a:bodyPr wrap="square" anchor="t" lIns="50800" rIns="50800" tIns="25400" bIns="25400">
            <a:spAutoFit/>
          </a:bodyPr>
          <a:lstStyle/>
          <a:p>
            <a:pPr algn="l">
              <a:spcAft>
                <a:spcPts val="600"/>
              </a:spcAft>
            </a:pPr>
            <a:r>
              <a:rPr sz="1500" b="0">
                <a:solidFill>
                  <a:srgbClr val="FFFFFF"/>
                </a:solidFill>
                <a:latin typeface="Sarabun"/>
                <a:ea typeface="Sarabun"/>
                <a:cs typeface="Sarabun"/>
              </a:rPr>
              <a:t>• repository 12 เทสวิ่งบนฐานแยก · db_safety 4 เทสตรวจ guard โดยไม่ต้องใช้ DB</a:t>
            </a:r>
          </a:p>
        </p:txBody>
      </p:sp>
      <p:sp>
        <p:nvSpPr>
          <p:cNvPr id="12" name="TextBox 11"/>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pytest --collect-only · tests/test_repository.py · tests/test_db_safety.py · repository/db.py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Demo 3 ฉาก: ทนาย ผู้จัดการ แอดมิน</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DEMO SCRIPT · http://localhost:8000 · ทุกบัญชีใช้รหัส password123</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B6</a:t>
            </a:r>
          </a:p>
        </p:txBody>
      </p:sp>
      <p:sp>
        <p:nvSpPr>
          <p:cNvPr id="7" name="Rectangle 6"/>
          <p:cNvSpPr/>
          <p:nvPr/>
        </p:nvSpPr>
        <p:spPr>
          <a:xfrm>
            <a:off x="488950" y="1888133"/>
            <a:ext cx="3594100" cy="1316433"/>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pending_dialog.png"/>
          <p:cNvPicPr>
            <a:picLocks noChangeAspect="1"/>
          </p:cNvPicPr>
          <p:nvPr/>
        </p:nvPicPr>
        <p:blipFill>
          <a:blip r:embed="rId3"/>
          <a:srcRect/>
          <a:stretch>
            <a:fillRect/>
          </a:stretch>
        </p:blipFill>
        <p:spPr>
          <a:xfrm>
            <a:off x="508000" y="1907183"/>
            <a:ext cx="3556000" cy="1278333"/>
          </a:xfrm>
          <a:prstGeom prst="rect">
            <a:avLst/>
          </a:prstGeom>
        </p:spPr>
      </p:pic>
      <p:sp>
        <p:nvSpPr>
          <p:cNvPr id="9" name="Rectangle 8"/>
          <p:cNvSpPr/>
          <p:nvPr/>
        </p:nvSpPr>
        <p:spPr>
          <a:xfrm>
            <a:off x="508000" y="3708400"/>
            <a:ext cx="3556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3886200"/>
            <a:ext cx="3098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lawyer1</a:t>
            </a:r>
          </a:p>
        </p:txBody>
      </p:sp>
      <p:sp>
        <p:nvSpPr>
          <p:cNvPr id="11" name="TextBox 10"/>
          <p:cNvSpPr txBox="1"/>
          <p:nvPr/>
        </p:nvSpPr>
        <p:spPr>
          <a:xfrm>
            <a:off x="736600" y="4394200"/>
            <a:ext cx="3098800" cy="12446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Sarabun"/>
                <a:ea typeface="Sarabun"/>
                <a:cs typeface="Sarabun"/>
              </a:rPr>
              <a:t>1. เปิด popup "คดีรอตอบรับ"</a:t>
            </a:r>
          </a:p>
          <a:p>
            <a:pPr algn="l">
              <a:spcAft>
                <a:spcPts val="200"/>
              </a:spcAft>
            </a:pPr>
            <a:r>
              <a:rPr sz="1400" b="0">
                <a:solidFill>
                  <a:srgbClr val="FFFFFF"/>
                </a:solidFill>
                <a:latin typeface="Sarabun"/>
                <a:ea typeface="Sarabun"/>
                <a:cs typeface="Sarabun"/>
              </a:rPr>
              <a:t>2. กดรับคดี</a:t>
            </a:r>
          </a:p>
          <a:p>
            <a:pPr algn="l">
              <a:spcAft>
                <a:spcPts val="200"/>
              </a:spcAft>
            </a:pPr>
            <a:r>
              <a:rPr sz="1400" b="0">
                <a:solidFill>
                  <a:srgbClr val="FFFFFF"/>
                </a:solidFill>
                <a:latin typeface="Sarabun"/>
                <a:ea typeface="Sarabun"/>
                <a:cs typeface="Sarabun"/>
              </a:rPr>
              <a:t>3. "+ เพิ่มนัด" นัดศาลพรุ่งนี้</a:t>
            </a:r>
          </a:p>
          <a:p>
            <a:pPr algn="l">
              <a:spcAft>
                <a:spcPts val="200"/>
              </a:spcAft>
            </a:pPr>
            <a:r>
              <a:rPr sz="1400" b="0">
                <a:solidFill>
                  <a:srgbClr val="FFFFFF"/>
                </a:solidFill>
                <a:latin typeface="Sarabun"/>
                <a:ea typeface="Sarabun"/>
                <a:cs typeface="Sarabun"/>
              </a:rPr>
              <a:t>4. ดูแผงใกล้ครบกำหนด</a:t>
            </a:r>
          </a:p>
        </p:txBody>
      </p:sp>
      <p:sp>
        <p:nvSpPr>
          <p:cNvPr id="12" name="Rectangle 11"/>
          <p:cNvSpPr/>
          <p:nvPr/>
        </p:nvSpPr>
        <p:spPr>
          <a:xfrm>
            <a:off x="4298950" y="1494912"/>
            <a:ext cx="3594100" cy="2102874"/>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anager_dashboard.png"/>
          <p:cNvPicPr>
            <a:picLocks noChangeAspect="1"/>
          </p:cNvPicPr>
          <p:nvPr/>
        </p:nvPicPr>
        <p:blipFill>
          <a:blip r:embed="rId4"/>
          <a:srcRect b="25000"/>
          <a:stretch>
            <a:fillRect/>
          </a:stretch>
        </p:blipFill>
        <p:spPr>
          <a:xfrm>
            <a:off x="4318000" y="1513962"/>
            <a:ext cx="3556000" cy="2064774"/>
          </a:xfrm>
          <a:prstGeom prst="rect">
            <a:avLst/>
          </a:prstGeom>
        </p:spPr>
      </p:pic>
      <p:sp>
        <p:nvSpPr>
          <p:cNvPr id="14" name="Rectangle 13"/>
          <p:cNvSpPr/>
          <p:nvPr/>
        </p:nvSpPr>
        <p:spPr>
          <a:xfrm>
            <a:off x="4318000" y="3708400"/>
            <a:ext cx="3556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46600" y="3886200"/>
            <a:ext cx="3098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manager1</a:t>
            </a:r>
          </a:p>
        </p:txBody>
      </p:sp>
      <p:sp>
        <p:nvSpPr>
          <p:cNvPr id="16" name="TextBox 15"/>
          <p:cNvSpPr txBox="1"/>
          <p:nvPr/>
        </p:nvSpPr>
        <p:spPr>
          <a:xfrm>
            <a:off x="4546600" y="4394200"/>
            <a:ext cx="3098800" cy="12446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Sarabun"/>
                <a:ea typeface="Sarabun"/>
                <a:cs typeface="Sarabun"/>
              </a:rPr>
              <a:t>1. ดูคิว "ยังไม่มีทนายตอบรับ"</a:t>
            </a:r>
          </a:p>
          <a:p>
            <a:pPr algn="l">
              <a:spcAft>
                <a:spcPts val="200"/>
              </a:spcAft>
            </a:pPr>
            <a:r>
              <a:rPr sz="1400" b="0">
                <a:solidFill>
                  <a:srgbClr val="FFFFFF"/>
                </a:solidFill>
                <a:latin typeface="Sarabun"/>
                <a:ea typeface="Sarabun"/>
                <a:cs typeface="Sarabun"/>
              </a:rPr>
              <a:t>2. กดมอบหมาย</a:t>
            </a:r>
          </a:p>
          <a:p>
            <a:pPr algn="l">
              <a:spcAft>
                <a:spcPts val="200"/>
              </a:spcAft>
            </a:pPr>
            <a:r>
              <a:rPr sz="1400" b="0">
                <a:solidFill>
                  <a:srgbClr val="FFFFFF"/>
                </a:solidFill>
                <a:latin typeface="Sarabun"/>
                <a:ea typeface="Sarabun"/>
                <a:cs typeface="Sarabun"/>
              </a:rPr>
              <a:t>3. เปิดคำขอถอนตัว</a:t>
            </a:r>
          </a:p>
          <a:p>
            <a:pPr algn="l">
              <a:spcAft>
                <a:spcPts val="200"/>
              </a:spcAft>
            </a:pPr>
            <a:r>
              <a:rPr sz="1400" b="0">
                <a:solidFill>
                  <a:srgbClr val="FFFFFF"/>
                </a:solidFill>
                <a:latin typeface="Sarabun"/>
                <a:ea typeface="Sarabun"/>
                <a:cs typeface="Sarabun"/>
              </a:rPr>
              <a:t>4. อนุมัติพร้อมย้ายนัด</a:t>
            </a:r>
          </a:p>
        </p:txBody>
      </p:sp>
      <p:sp>
        <p:nvSpPr>
          <p:cNvPr id="17" name="Rectangle 16"/>
          <p:cNvSpPr/>
          <p:nvPr/>
        </p:nvSpPr>
        <p:spPr>
          <a:xfrm>
            <a:off x="8108950" y="1625064"/>
            <a:ext cx="3594100" cy="1842571"/>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dmin_users.png"/>
          <p:cNvPicPr>
            <a:picLocks noChangeAspect="1"/>
          </p:cNvPicPr>
          <p:nvPr/>
        </p:nvPicPr>
        <p:blipFill>
          <a:blip r:embed="rId5"/>
          <a:srcRect b="45000"/>
          <a:stretch>
            <a:fillRect/>
          </a:stretch>
        </p:blipFill>
        <p:spPr>
          <a:xfrm>
            <a:off x="8128000" y="1644114"/>
            <a:ext cx="3556000" cy="1804471"/>
          </a:xfrm>
          <a:prstGeom prst="rect">
            <a:avLst/>
          </a:prstGeom>
        </p:spPr>
      </p:pic>
      <p:sp>
        <p:nvSpPr>
          <p:cNvPr id="19" name="Rectangle 18"/>
          <p:cNvSpPr/>
          <p:nvPr/>
        </p:nvSpPr>
        <p:spPr>
          <a:xfrm>
            <a:off x="8128000" y="3708400"/>
            <a:ext cx="3556000" cy="2032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6600" y="3886200"/>
            <a:ext cx="3098800" cy="381000"/>
          </a:xfrm>
          <a:prstGeom prst="rect">
            <a:avLst/>
          </a:prstGeom>
          <a:noFill/>
        </p:spPr>
        <p:txBody>
          <a:bodyPr wrap="square" anchor="t" lIns="50800" rIns="50800" tIns="25400" bIns="25400">
            <a:spAutoFit/>
          </a:bodyPr>
          <a:lstStyle/>
          <a:p>
            <a:pPr algn="l">
              <a:spcAft>
                <a:spcPts val="600"/>
              </a:spcAft>
            </a:pPr>
            <a:r>
              <a:rPr sz="2000" b="1">
                <a:solidFill>
                  <a:srgbClr val="B39DDB"/>
                </a:solidFill>
                <a:latin typeface="Sarabun"/>
                <a:ea typeface="Sarabun"/>
                <a:cs typeface="Sarabun"/>
              </a:rPr>
              <a:t>admin</a:t>
            </a:r>
          </a:p>
        </p:txBody>
      </p:sp>
      <p:sp>
        <p:nvSpPr>
          <p:cNvPr id="21" name="TextBox 20"/>
          <p:cNvSpPr txBox="1"/>
          <p:nvPr/>
        </p:nvSpPr>
        <p:spPr>
          <a:xfrm>
            <a:off x="8356600" y="4394200"/>
            <a:ext cx="3098800" cy="1244600"/>
          </a:xfrm>
          <a:prstGeom prst="rect">
            <a:avLst/>
          </a:prstGeom>
          <a:noFill/>
        </p:spPr>
        <p:txBody>
          <a:bodyPr wrap="square" anchor="t" lIns="50800" rIns="50800" tIns="25400" bIns="25400">
            <a:spAutoFit/>
          </a:bodyPr>
          <a:lstStyle/>
          <a:p>
            <a:pPr algn="l">
              <a:spcAft>
                <a:spcPts val="200"/>
              </a:spcAft>
            </a:pPr>
            <a:r>
              <a:rPr sz="1400" b="0">
                <a:solidFill>
                  <a:srgbClr val="FFFFFF"/>
                </a:solidFill>
                <a:latin typeface="Sarabun"/>
                <a:ea typeface="Sarabun"/>
                <a:cs typeface="Sarabun"/>
              </a:rPr>
              <a:t>1. "+ เพิ่มผู้ใช้ใหม่"</a:t>
            </a:r>
          </a:p>
          <a:p>
            <a:pPr algn="l">
              <a:spcAft>
                <a:spcPts val="200"/>
              </a:spcAft>
            </a:pPr>
            <a:r>
              <a:rPr sz="1400" b="0">
                <a:solidFill>
                  <a:srgbClr val="FFFFFF"/>
                </a:solidFill>
                <a:latin typeface="Sarabun"/>
                <a:ea typeface="Sarabun"/>
                <a:cs typeface="Sarabun"/>
              </a:rPr>
              <a:t>2. สร้างทนาย</a:t>
            </a:r>
          </a:p>
          <a:p>
            <a:pPr algn="l">
              <a:spcAft>
                <a:spcPts val="200"/>
              </a:spcAft>
            </a:pPr>
            <a:r>
              <a:rPr sz="1400" b="0">
                <a:solidFill>
                  <a:srgbClr val="FFFFFF"/>
                </a:solidFill>
                <a:latin typeface="Sarabun"/>
                <a:ea typeface="Sarabun"/>
                <a:cs typeface="Sarabun"/>
              </a:rPr>
              <a:t>3. ปิดใช้งาน</a:t>
            </a:r>
          </a:p>
          <a:p>
            <a:pPr algn="l">
              <a:spcAft>
                <a:spcPts val="200"/>
              </a:spcAft>
            </a:pPr>
            <a:r>
              <a:rPr sz="1400" b="0">
                <a:solidFill>
                  <a:srgbClr val="FFFFFF"/>
                </a:solidFill>
                <a:latin typeface="Sarabun"/>
                <a:ea typeface="Sarabun"/>
                <a:cs typeface="Sarabun"/>
              </a:rPr>
              <a:t>4. เปิดคืน</a:t>
            </a:r>
          </a:p>
        </p:txBody>
      </p:sp>
      <p:sp>
        <p:nvSpPr>
          <p:cNvPr id="22" name="TextBox 21"/>
          <p:cNvSpPr txBox="1"/>
          <p:nvPr/>
        </p:nvSpPr>
        <p:spPr>
          <a:xfrm>
            <a:off x="508000" y="5791200"/>
            <a:ext cx="11176000" cy="279400"/>
          </a:xfrm>
          <a:prstGeom prst="rect">
            <a:avLst/>
          </a:prstGeom>
          <a:noFill/>
        </p:spPr>
        <p:txBody>
          <a:bodyPr wrap="square" anchor="t" lIns="50800" rIns="50800" tIns="25400" bIns="25400">
            <a:spAutoFit/>
          </a:bodyPr>
          <a:lstStyle/>
          <a:p>
            <a:pPr algn="l">
              <a:spcAft>
                <a:spcPts val="600"/>
              </a:spcAft>
            </a:pPr>
            <a:r>
              <a:rPr sz="1400" b="1">
                <a:solidFill>
                  <a:srgbClr val="B39DDB"/>
                </a:solidFill>
                <a:latin typeface="Sarabun"/>
                <a:ea typeface="Sarabun"/>
                <a:cs typeface="Sarabun"/>
              </a:rPr>
              <a:t>เวลาน้อย: เล่นแค่ฉาก lawyer1 (รับคดี + เพิ่มนัด) ก็เห็น loop หลักครบ</a:t>
            </a:r>
          </a:p>
        </p:txBody>
      </p:sp>
      <p:sp>
        <p:nvSpPr>
          <p:cNvPr id="23" name="TextBox 22"/>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README.md §บัญชีตัวอย่าง · seed มี lawyer1 ถึง lawyer8 · manager1 · admin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E1E1E"/>
        </a:solidFill>
        <a:effectLst/>
      </p:bgPr>
    </p:bg>
    <p:spTree>
      <p:nvGrpSpPr>
        <p:cNvPr id="1" name=""/>
        <p:cNvGrpSpPr/>
        <p:nvPr/>
      </p:nvGrpSpPr>
      <p:grpSpPr/>
      <p:sp>
        <p:nvSpPr>
          <p:cNvPr id="2" name="TextBox 1"/>
          <p:cNvSpPr txBox="1"/>
          <p:nvPr/>
        </p:nvSpPr>
        <p:spPr>
          <a:xfrm>
            <a:off x="508000" y="330200"/>
            <a:ext cx="10414000" cy="558800"/>
          </a:xfrm>
          <a:prstGeom prst="rect">
            <a:avLst/>
          </a:prstGeom>
          <a:noFill/>
        </p:spPr>
        <p:txBody>
          <a:bodyPr wrap="square" anchor="t" lIns="50800" rIns="50800" tIns="25400" bIns="25400">
            <a:spAutoFit/>
          </a:bodyPr>
          <a:lstStyle/>
          <a:p>
            <a:pPr algn="l">
              <a:spcAft>
                <a:spcPts val="600"/>
              </a:spcAft>
            </a:pPr>
            <a:r>
              <a:rPr sz="2800" b="1">
                <a:solidFill>
                  <a:srgbClr val="FFFFFF"/>
                </a:solidFill>
                <a:latin typeface="Sarabun"/>
                <a:ea typeface="Sarabun"/>
                <a:cs typeface="Sarabun"/>
              </a:rPr>
              <a:t>Case เป็นศูนย์กลาง ถือการมอบหมาย นัด และโน้ต (ฉบับเต็ม)</a:t>
            </a:r>
          </a:p>
        </p:txBody>
      </p:sp>
      <p:sp>
        <p:nvSpPr>
          <p:cNvPr id="3" name="TextBox 2"/>
          <p:cNvSpPr txBox="1"/>
          <p:nvPr/>
        </p:nvSpPr>
        <p:spPr>
          <a:xfrm>
            <a:off x="508000" y="863600"/>
            <a:ext cx="10922000" cy="330200"/>
          </a:xfrm>
          <a:prstGeom prst="rect">
            <a:avLst/>
          </a:prstGeom>
          <a:noFill/>
        </p:spPr>
        <p:txBody>
          <a:bodyPr wrap="square" anchor="t" lIns="50800" rIns="50800" tIns="25400" bIns="25400">
            <a:spAutoFit/>
          </a:bodyPr>
          <a:lstStyle/>
          <a:p>
            <a:pPr algn="l">
              <a:spcAft>
                <a:spcPts val="600"/>
              </a:spcAft>
            </a:pPr>
            <a:r>
              <a:rPr sz="1500" b="0">
                <a:solidFill>
                  <a:srgbClr val="A6A6A6"/>
                </a:solidFill>
                <a:latin typeface="Sarabun"/>
                <a:ea typeface="Sarabun"/>
                <a:cs typeface="Sarabun"/>
              </a:rPr>
              <a:t>CLASS DIAGRAM ฉบับเต็ม · สำรอง</a:t>
            </a:r>
          </a:p>
        </p:txBody>
      </p:sp>
      <p:sp>
        <p:nvSpPr>
          <p:cNvPr id="4" name="Rectangle 3"/>
          <p:cNvSpPr/>
          <p:nvPr/>
        </p:nvSpPr>
        <p:spPr>
          <a:xfrm>
            <a:off x="508000" y="1295400"/>
            <a:ext cx="11176000" cy="19050"/>
          </a:xfrm>
          <a:prstGeom prst="rect">
            <a:avLst/>
          </a:prstGeom>
          <a:solidFill>
            <a:srgbClr val="44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8000" y="1282700"/>
            <a:ext cx="1016000" cy="38100"/>
          </a:xfrm>
          <a:prstGeom prst="rect">
            <a:avLst/>
          </a:prstGeom>
          <a:solidFill>
            <a:srgbClr val="B39D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22000" y="355600"/>
            <a:ext cx="762000" cy="381000"/>
          </a:xfrm>
          <a:prstGeom prst="rect">
            <a:avLst/>
          </a:prstGeom>
          <a:noFill/>
        </p:spPr>
        <p:txBody>
          <a:bodyPr wrap="square" anchor="t" lIns="50800" rIns="50800" tIns="25400" bIns="25400">
            <a:spAutoFit/>
          </a:bodyPr>
          <a:lstStyle/>
          <a:p>
            <a:pPr algn="r">
              <a:spcAft>
                <a:spcPts val="600"/>
              </a:spcAft>
            </a:pPr>
            <a:r>
              <a:rPr sz="1400" b="0">
                <a:solidFill>
                  <a:srgbClr val="A6A6A6"/>
                </a:solidFill>
                <a:latin typeface="Sarabun"/>
                <a:ea typeface="Sarabun"/>
                <a:cs typeface="Sarabun"/>
              </a:rPr>
              <a:t>B7</a:t>
            </a:r>
          </a:p>
        </p:txBody>
      </p:sp>
      <p:sp>
        <p:nvSpPr>
          <p:cNvPr id="7" name="Rectangle 6"/>
          <p:cNvSpPr/>
          <p:nvPr/>
        </p:nvSpPr>
        <p:spPr>
          <a:xfrm>
            <a:off x="508000" y="1498600"/>
            <a:ext cx="3429000" cy="1066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58800" y="1549400"/>
            <a:ext cx="3327400" cy="9652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CaseAssignment (−status)</a:t>
            </a:r>
          </a:p>
          <a:p>
            <a:pPr algn="ctr">
              <a:spcAft>
                <a:spcPts val="100"/>
              </a:spcAft>
            </a:pPr>
            <a:r>
              <a:rPr sz="1200" b="0">
                <a:solidFill>
                  <a:srgbClr val="FFFFFF"/>
                </a:solidFill>
                <a:latin typeface="Sarabun"/>
                <a:ea typeface="Sarabun"/>
                <a:cs typeface="Sarabun"/>
              </a:rPr>
              <a:t>accept() · decline()</a:t>
            </a:r>
          </a:p>
          <a:p>
            <a:pPr algn="ctr">
              <a:spcAft>
                <a:spcPts val="100"/>
              </a:spcAft>
            </a:pPr>
            <a:r>
              <a:rPr sz="1200" b="0">
                <a:solidFill>
                  <a:srgbClr val="FFFFFF"/>
                </a:solidFill>
                <a:latin typeface="Sarabun"/>
                <a:ea typeface="Sarabun"/>
                <a:cs typeface="Sarabun"/>
              </a:rPr>
              <a:t>request_withdraw() · approve/reject()</a:t>
            </a:r>
          </a:p>
        </p:txBody>
      </p:sp>
      <p:sp>
        <p:nvSpPr>
          <p:cNvPr id="9" name="Rectangle 8"/>
          <p:cNvSpPr/>
          <p:nvPr/>
        </p:nvSpPr>
        <p:spPr>
          <a:xfrm>
            <a:off x="4318000" y="1498600"/>
            <a:ext cx="3556000" cy="10668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68800" y="1549400"/>
            <a:ext cx="3454400" cy="9652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Case (−status, −assignments)</a:t>
            </a:r>
          </a:p>
          <a:p>
            <a:pPr algn="ctr">
              <a:spcAft>
                <a:spcPts val="100"/>
              </a:spcAft>
            </a:pPr>
            <a:r>
              <a:rPr sz="1200" b="0">
                <a:solidFill>
                  <a:srgbClr val="FFFFFF"/>
                </a:solidFill>
                <a:latin typeface="Sarabun"/>
                <a:ea typeface="Sarabun"/>
                <a:cs typeface="Sarabun"/>
              </a:rPr>
              <a:t>assign_lawyer() · advance_status()</a:t>
            </a:r>
          </a:p>
          <a:p>
            <a:pPr algn="ctr">
              <a:spcAft>
                <a:spcPts val="100"/>
              </a:spcAft>
            </a:pPr>
            <a:r>
              <a:rPr sz="1200" b="0">
                <a:solidFill>
                  <a:srgbClr val="FFFFFF"/>
                </a:solidFill>
                <a:latin typeface="Sarabun"/>
                <a:ea typeface="Sarabun"/>
                <a:cs typeface="Sarabun"/>
              </a:rPr>
              <a:t>lawyers() · lead_lawyer() · can_close()</a:t>
            </a:r>
          </a:p>
        </p:txBody>
      </p:sp>
      <p:sp>
        <p:nvSpPr>
          <p:cNvPr id="11" name="Rectangle 10"/>
          <p:cNvSpPr/>
          <p:nvPr/>
        </p:nvSpPr>
        <p:spPr>
          <a:xfrm>
            <a:off x="8255000" y="1498600"/>
            <a:ext cx="3429000" cy="10668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5800" y="1549400"/>
            <a:ext cx="3327400" cy="9652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Schedule</a:t>
            </a:r>
          </a:p>
          <a:p>
            <a:pPr algn="ctr">
              <a:spcAft>
                <a:spcPts val="100"/>
              </a:spcAft>
            </a:pPr>
            <a:r>
              <a:rPr sz="1200" b="0">
                <a:solidFill>
                  <a:srgbClr val="FFFFFF"/>
                </a:solidFill>
                <a:latin typeface="Sarabun"/>
                <a:ea typeface="Sarabun"/>
                <a:cs typeface="Sarabun"/>
              </a:rPr>
              <a:t>add() · find_conflicts()</a:t>
            </a:r>
          </a:p>
          <a:p>
            <a:pPr algn="ctr">
              <a:spcAft>
                <a:spcPts val="100"/>
              </a:spcAft>
            </a:pPr>
            <a:r>
              <a:rPr sz="1200" b="0">
                <a:solidFill>
                  <a:srgbClr val="FFFFFF"/>
                </a:solidFill>
                <a:latin typeface="Sarabun"/>
                <a:ea typeface="Sarabun"/>
                <a:cs typeface="Sarabun"/>
              </a:rPr>
              <a:t>day/week/month_view() · mark_done()</a:t>
            </a:r>
          </a:p>
        </p:txBody>
      </p:sp>
      <p:cxnSp>
        <p:nvCxnSpPr>
          <p:cNvPr id="13" name="Connector 12"/>
          <p:cNvCxnSpPr/>
          <p:nvPr/>
        </p:nvCxnSpPr>
        <p:spPr>
          <a:xfrm>
            <a:off x="3937000" y="2032000"/>
            <a:ext cx="381000" cy="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886200" y="2032000"/>
            <a:ext cx="254000" cy="254000"/>
          </a:xfrm>
          <a:prstGeom prst="rect">
            <a:avLst/>
          </a:prstGeom>
          <a:noFill/>
        </p:spPr>
        <p:txBody>
          <a:bodyPr wrap="square" anchor="t" lIns="50800" rIns="50800" tIns="25400" bIns="25400">
            <a:spAutoFit/>
          </a:bodyPr>
          <a:lstStyle/>
          <a:p>
            <a:pPr algn="l">
              <a:spcAft>
                <a:spcPts val="600"/>
              </a:spcAft>
            </a:pPr>
            <a:r>
              <a:rPr sz="1400" b="0">
                <a:solidFill>
                  <a:srgbClr val="B39DDB"/>
                </a:solidFill>
                <a:latin typeface="Sarabun"/>
                <a:ea typeface="Sarabun"/>
                <a:cs typeface="Sarabun"/>
              </a:rPr>
              <a:t>*</a:t>
            </a:r>
          </a:p>
        </p:txBody>
      </p:sp>
      <p:sp>
        <p:nvSpPr>
          <p:cNvPr id="15" name="TextBox 14"/>
          <p:cNvSpPr txBox="1"/>
          <p:nvPr/>
        </p:nvSpPr>
        <p:spPr>
          <a:xfrm>
            <a:off x="4140200" y="2032000"/>
            <a:ext cx="254000" cy="254000"/>
          </a:xfrm>
          <a:prstGeom prst="rect">
            <a:avLst/>
          </a:prstGeom>
          <a:noFill/>
        </p:spPr>
        <p:txBody>
          <a:bodyPr wrap="square" anchor="t" lIns="50800" rIns="50800" tIns="25400" bIns="25400">
            <a:spAutoFit/>
          </a:bodyPr>
          <a:lstStyle/>
          <a:p>
            <a:pPr algn="l">
              <a:spcAft>
                <a:spcPts val="600"/>
              </a:spcAft>
            </a:pPr>
            <a:r>
              <a:rPr sz="1300" b="0">
                <a:solidFill>
                  <a:srgbClr val="B39DDB"/>
                </a:solidFill>
                <a:latin typeface="Sarabun"/>
                <a:ea typeface="Sarabun"/>
                <a:cs typeface="Sarabun"/>
              </a:rPr>
              <a:t>1</a:t>
            </a:r>
          </a:p>
        </p:txBody>
      </p:sp>
      <p:sp>
        <p:nvSpPr>
          <p:cNvPr id="16" name="TextBox 15"/>
          <p:cNvSpPr txBox="1"/>
          <p:nvPr/>
        </p:nvSpPr>
        <p:spPr>
          <a:xfrm>
            <a:off x="508000" y="2590800"/>
            <a:ext cx="3429000" cy="279400"/>
          </a:xfrm>
          <a:prstGeom prst="rect">
            <a:avLst/>
          </a:prstGeom>
          <a:noFill/>
        </p:spPr>
        <p:txBody>
          <a:bodyPr wrap="square" anchor="t" lIns="50800" rIns="50800" tIns="25400" bIns="25400">
            <a:spAutoFit/>
          </a:bodyPr>
          <a:lstStyle/>
          <a:p>
            <a:pPr algn="ctr">
              <a:spcAft>
                <a:spcPts val="600"/>
              </a:spcAft>
            </a:pPr>
            <a:r>
              <a:rPr sz="1200" b="0">
                <a:solidFill>
                  <a:srgbClr val="B39DDB"/>
                </a:solidFill>
                <a:latin typeface="Sarabun"/>
                <a:ea typeface="Sarabun"/>
                <a:cs typeface="Sarabun"/>
              </a:rPr>
              <a:t>หลายรายการ ต่อ 1 Lawyer (สไลด์ 4)</a:t>
            </a:r>
          </a:p>
        </p:txBody>
      </p:sp>
      <p:cxnSp>
        <p:nvCxnSpPr>
          <p:cNvPr id="17" name="Connector 16"/>
          <p:cNvCxnSpPr/>
          <p:nvPr/>
        </p:nvCxnSpPr>
        <p:spPr>
          <a:xfrm>
            <a:off x="9969500" y="2565400"/>
            <a:ext cx="0" cy="609600"/>
          </a:xfrm>
          <a:prstGeom prst="line">
            <a:avLst/>
          </a:prstGeom>
          <a:ln w="19050">
            <a:solidFill>
              <a:srgbClr val="B39DDB"/>
            </a:solidFill>
            <a:prstDash val="dash"/>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033000" y="2667000"/>
            <a:ext cx="1651000" cy="279400"/>
          </a:xfrm>
          <a:prstGeom prst="rect">
            <a:avLst/>
          </a:prstGeom>
          <a:noFill/>
        </p:spPr>
        <p:txBody>
          <a:bodyPr wrap="square" anchor="t" lIns="50800" rIns="50800" tIns="25400" bIns="25400">
            <a:spAutoFit/>
          </a:bodyPr>
          <a:lstStyle/>
          <a:p>
            <a:pPr algn="l">
              <a:spcAft>
                <a:spcPts val="600"/>
              </a:spcAft>
            </a:pPr>
            <a:r>
              <a:rPr sz="1200" b="0">
                <a:solidFill>
                  <a:srgbClr val="B39DDB"/>
                </a:solidFill>
                <a:latin typeface="Sarabun"/>
                <a:ea typeface="Sarabun"/>
                <a:cs typeface="Sarabun"/>
              </a:rPr>
              <a:t>◇ ยืมลิสต์นัด</a:t>
            </a:r>
          </a:p>
        </p:txBody>
      </p:sp>
      <p:sp>
        <p:nvSpPr>
          <p:cNvPr id="19" name="Rectangle 18"/>
          <p:cNvSpPr/>
          <p:nvPr/>
        </p:nvSpPr>
        <p:spPr>
          <a:xfrm>
            <a:off x="508000" y="3048000"/>
            <a:ext cx="3429000" cy="1270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8800" y="3098800"/>
            <a:ext cx="3327400" cy="1168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Appointment «abstract»</a:t>
            </a:r>
          </a:p>
          <a:p>
            <a:pPr algn="ctr">
              <a:spcAft>
                <a:spcPts val="100"/>
              </a:spcAft>
            </a:pPr>
            <a:r>
              <a:rPr sz="1200" b="0">
                <a:solidFill>
                  <a:srgbClr val="FFFFFF"/>
                </a:solidFill>
                <a:latin typeface="Sarabun"/>
                <a:ea typeface="Sarabun"/>
                <a:cs typeface="Sarabun"/>
              </a:rPr>
              <a:t>reminder_lead_days()* · kind_label()*</a:t>
            </a:r>
          </a:p>
          <a:p>
            <a:pPr algn="ctr">
              <a:spcAft>
                <a:spcPts val="100"/>
              </a:spcAft>
            </a:pPr>
            <a:r>
              <a:rPr sz="1200" b="0">
                <a:solidFill>
                  <a:srgbClr val="FFFFFF"/>
                </a:solidFill>
                <a:latin typeface="Sarabun"/>
                <a:ea typeface="Sarabun"/>
                <a:cs typeface="Sarabun"/>
              </a:rPr>
              <a:t>can_reschedule()* · overlaps()</a:t>
            </a:r>
          </a:p>
          <a:p>
            <a:pPr algn="ctr">
              <a:spcAft>
                <a:spcPts val="100"/>
              </a:spcAft>
            </a:pPr>
            <a:r>
              <a:rPr sz="1200" b="0">
                <a:solidFill>
                  <a:srgbClr val="FFFFFF"/>
                </a:solidFill>
                <a:latin typeface="Sarabun"/>
                <a:ea typeface="Sarabun"/>
                <a:cs typeface="Sarabun"/>
              </a:rPr>
              <a:t>reschedule() · cancel() · is_due_soon()</a:t>
            </a:r>
          </a:p>
        </p:txBody>
      </p:sp>
      <p:sp>
        <p:nvSpPr>
          <p:cNvPr id="21" name="Rectangle 20"/>
          <p:cNvSpPr/>
          <p:nvPr/>
        </p:nvSpPr>
        <p:spPr>
          <a:xfrm>
            <a:off x="508000" y="4724400"/>
            <a:ext cx="3429000" cy="1016000"/>
          </a:xfrm>
          <a:prstGeom prst="rect">
            <a:avLst/>
          </a:prstGeom>
          <a:solidFill>
            <a:srgbClr val="362D4A"/>
          </a:solidFill>
          <a:ln w="15875">
            <a:solidFill>
              <a:srgbClr val="B39D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8800" y="4775200"/>
            <a:ext cx="3327400" cy="914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CourtHearing · ClientMeeting</a:t>
            </a:r>
          </a:p>
          <a:p>
            <a:pPr algn="ctr">
              <a:spcAft>
                <a:spcPts val="100"/>
              </a:spcAft>
            </a:pPr>
            <a:r>
              <a:rPr sz="1200" b="0">
                <a:solidFill>
                  <a:srgbClr val="FFFFFF"/>
                </a:solidFill>
                <a:latin typeface="Sarabun"/>
                <a:ea typeface="Sarabun"/>
                <a:cs typeface="Sarabun"/>
              </a:rPr>
              <a:t>FilingDeadline</a:t>
            </a:r>
          </a:p>
          <a:p>
            <a:pPr algn="ctr">
              <a:spcAft>
                <a:spcPts val="100"/>
              </a:spcAft>
            </a:pPr>
            <a:r>
              <a:rPr sz="1200" b="0">
                <a:solidFill>
                  <a:srgbClr val="A6A6A6"/>
                </a:solidFill>
                <a:latin typeface="Sarabun"/>
                <a:ea typeface="Sarabun"/>
                <a:cs typeface="Sarabun"/>
              </a:rPr>
              <a:t>นัดศาล 3 วัน · พบลูกความ 1 วัน · ยื่น 15 วัน</a:t>
            </a:r>
          </a:p>
        </p:txBody>
      </p:sp>
      <p:cxnSp>
        <p:nvCxnSpPr>
          <p:cNvPr id="23" name="Connector 22"/>
          <p:cNvCxnSpPr/>
          <p:nvPr/>
        </p:nvCxnSpPr>
        <p:spPr>
          <a:xfrm flipV="1">
            <a:off x="2222500" y="4318000"/>
            <a:ext cx="0" cy="406400"/>
          </a:xfrm>
          <a:prstGeom prst="line">
            <a:avLst/>
          </a:prstGeom>
          <a:ln w="19050">
            <a:solidFill>
              <a:srgbClr val="B39DD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6000" y="2565400"/>
            <a:ext cx="0" cy="482600"/>
          </a:xfrm>
          <a:prstGeom prst="line">
            <a:avLst/>
          </a:prstGeom>
          <a:ln w="19050">
            <a:solidFill>
              <a:srgbClr val="B39DD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146800" y="2590800"/>
            <a:ext cx="381000" cy="254000"/>
          </a:xfrm>
          <a:prstGeom prst="rect">
            <a:avLst/>
          </a:prstGeom>
          <a:noFill/>
        </p:spPr>
        <p:txBody>
          <a:bodyPr wrap="square" anchor="t" lIns="50800" rIns="50800" tIns="25400" bIns="25400">
            <a:spAutoFit/>
          </a:bodyPr>
          <a:lstStyle/>
          <a:p>
            <a:pPr algn="l">
              <a:spcAft>
                <a:spcPts val="600"/>
              </a:spcAft>
            </a:pPr>
            <a:r>
              <a:rPr sz="1300" b="0">
                <a:solidFill>
                  <a:srgbClr val="B39DDB"/>
                </a:solidFill>
                <a:latin typeface="Sarabun"/>
                <a:ea typeface="Sarabun"/>
                <a:cs typeface="Sarabun"/>
              </a:rPr>
              <a:t>1</a:t>
            </a:r>
          </a:p>
        </p:txBody>
      </p:sp>
      <p:sp>
        <p:nvSpPr>
          <p:cNvPr id="26" name="TextBox 25"/>
          <p:cNvSpPr txBox="1"/>
          <p:nvPr/>
        </p:nvSpPr>
        <p:spPr>
          <a:xfrm>
            <a:off x="6146800" y="2819400"/>
            <a:ext cx="381000" cy="254000"/>
          </a:xfrm>
          <a:prstGeom prst="rect">
            <a:avLst/>
          </a:prstGeom>
          <a:noFill/>
        </p:spPr>
        <p:txBody>
          <a:bodyPr wrap="square" anchor="t" lIns="50800" rIns="50800" tIns="25400" bIns="25400">
            <a:spAutoFit/>
          </a:bodyPr>
          <a:lstStyle/>
          <a:p>
            <a:pPr algn="l">
              <a:spcAft>
                <a:spcPts val="600"/>
              </a:spcAft>
            </a:pPr>
            <a:r>
              <a:rPr sz="1400" b="0">
                <a:solidFill>
                  <a:srgbClr val="B39DDB"/>
                </a:solidFill>
                <a:latin typeface="Sarabun"/>
                <a:ea typeface="Sarabun"/>
                <a:cs typeface="Sarabun"/>
              </a:rPr>
              <a:t>*</a:t>
            </a:r>
          </a:p>
        </p:txBody>
      </p:sp>
      <p:sp>
        <p:nvSpPr>
          <p:cNvPr id="27" name="Rectangle 26"/>
          <p:cNvSpPr/>
          <p:nvPr/>
        </p:nvSpPr>
        <p:spPr>
          <a:xfrm>
            <a:off x="4318000" y="3048000"/>
            <a:ext cx="3556000" cy="889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68800" y="3098800"/>
            <a:ext cx="3454400" cy="787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CaseNote · CaseEvent</a:t>
            </a:r>
          </a:p>
          <a:p>
            <a:pPr algn="ctr">
              <a:spcAft>
                <a:spcPts val="100"/>
              </a:spcAft>
            </a:pPr>
            <a:r>
              <a:rPr sz="1200" b="0">
                <a:solidFill>
                  <a:srgbClr val="FFFFFF"/>
                </a:solidFill>
                <a:latin typeface="Sarabun"/>
                <a:ea typeface="Sarabun"/>
                <a:cs typeface="Sarabun"/>
              </a:rPr>
              <a:t>คดี 1 : * (ผูกด้วย case_id)</a:t>
            </a:r>
          </a:p>
          <a:p>
            <a:pPr algn="ctr">
              <a:spcAft>
                <a:spcPts val="100"/>
              </a:spcAft>
            </a:pPr>
            <a:r>
              <a:rPr sz="1200" b="0">
                <a:solidFill>
                  <a:srgbClr val="A6A6A6"/>
                </a:solidFill>
                <a:latin typeface="Sarabun"/>
                <a:ea typeface="Sarabun"/>
                <a:cs typeface="Sarabun"/>
              </a:rPr>
              <a:t>validate_text() · can_modify()</a:t>
            </a:r>
          </a:p>
        </p:txBody>
      </p:sp>
      <p:sp>
        <p:nvSpPr>
          <p:cNvPr id="29" name="Rectangle 28"/>
          <p:cNvSpPr/>
          <p:nvPr/>
        </p:nvSpPr>
        <p:spPr>
          <a:xfrm>
            <a:off x="4318000" y="4127500"/>
            <a:ext cx="3556000" cy="6985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368800" y="4178300"/>
            <a:ext cx="3454400" cy="5969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Client</a:t>
            </a:r>
          </a:p>
          <a:p>
            <a:pPr algn="ctr">
              <a:spcAft>
                <a:spcPts val="100"/>
              </a:spcAft>
            </a:pPr>
            <a:r>
              <a:rPr sz="1200" b="0">
                <a:solidFill>
                  <a:srgbClr val="A6A6A6"/>
                </a:solidFill>
                <a:latin typeface="Sarabun"/>
                <a:ea typeface="Sarabun"/>
                <a:cs typeface="Sarabun"/>
              </a:rPr>
              <a:t>ลูกความ 1 : คดี * (case.client)</a:t>
            </a:r>
          </a:p>
        </p:txBody>
      </p:sp>
      <p:sp>
        <p:nvSpPr>
          <p:cNvPr id="31" name="Rectangle 30"/>
          <p:cNvSpPr/>
          <p:nvPr/>
        </p:nvSpPr>
        <p:spPr>
          <a:xfrm>
            <a:off x="8255000" y="3175000"/>
            <a:ext cx="3429000" cy="1270000"/>
          </a:xfrm>
          <a:prstGeom prst="rect">
            <a:avLst/>
          </a:prstGeom>
          <a:solidFill>
            <a:srgbClr val="2B2B2B"/>
          </a:solidFill>
          <a:ln w="15875">
            <a:solidFill>
              <a:srgbClr val="4444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5800" y="3225800"/>
            <a:ext cx="3327400" cy="1168400"/>
          </a:xfrm>
          <a:prstGeom prst="rect">
            <a:avLst/>
          </a:prstGeom>
          <a:noFill/>
        </p:spPr>
        <p:txBody>
          <a:bodyPr wrap="square" anchor="ctr" lIns="50800" rIns="50800" tIns="25400" bIns="25400">
            <a:spAutoFit/>
          </a:bodyPr>
          <a:lstStyle/>
          <a:p>
            <a:pPr algn="ctr">
              <a:spcAft>
                <a:spcPts val="100"/>
              </a:spcAft>
            </a:pPr>
            <a:r>
              <a:rPr sz="1400" b="1">
                <a:solidFill>
                  <a:srgbClr val="FFFFFF"/>
                </a:solidFill>
                <a:latin typeface="Sarabun"/>
                <a:ea typeface="Sarabun"/>
                <a:cs typeface="Sarabun"/>
              </a:rPr>
              <a:t>«enum» · @dataclass</a:t>
            </a:r>
          </a:p>
          <a:p>
            <a:pPr algn="ctr">
              <a:spcAft>
                <a:spcPts val="100"/>
              </a:spcAft>
            </a:pPr>
            <a:r>
              <a:rPr sz="1200" b="0">
                <a:solidFill>
                  <a:srgbClr val="FFFFFF"/>
                </a:solidFill>
                <a:latin typeface="Sarabun"/>
                <a:ea typeface="Sarabun"/>
                <a:cs typeface="Sarabun"/>
              </a:rPr>
              <a:t>CaseStatus 7 ค่า</a:t>
            </a:r>
          </a:p>
          <a:p>
            <a:pPr algn="ctr">
              <a:spcAft>
                <a:spcPts val="100"/>
              </a:spcAft>
            </a:pPr>
            <a:r>
              <a:rPr sz="1200" b="0">
                <a:solidFill>
                  <a:srgbClr val="FFFFFF"/>
                </a:solidFill>
                <a:latin typeface="Sarabun"/>
                <a:ea typeface="Sarabun"/>
                <a:cs typeface="Sarabun"/>
              </a:rPr>
              <a:t>AssignmentStatus 4 ค่า</a:t>
            </a:r>
          </a:p>
          <a:p>
            <a:pPr algn="ctr">
              <a:spcAft>
                <a:spcPts val="100"/>
              </a:spcAft>
            </a:pPr>
            <a:r>
              <a:rPr sz="1200" b="0">
                <a:solidFill>
                  <a:srgbClr val="A6A6A6"/>
                </a:solidFill>
                <a:latin typeface="Sarabun"/>
                <a:ea typeface="Sarabun"/>
                <a:cs typeface="Sarabun"/>
              </a:rPr>
              <a:t>domain ทุกคลาสเป็น @dataclass</a:t>
            </a:r>
          </a:p>
        </p:txBody>
      </p:sp>
      <p:sp>
        <p:nvSpPr>
          <p:cNvPr id="33" name="TextBox 32"/>
          <p:cNvSpPr txBox="1"/>
          <p:nvPr/>
        </p:nvSpPr>
        <p:spPr>
          <a:xfrm>
            <a:off x="4318000" y="5016500"/>
            <a:ext cx="7366000" cy="635000"/>
          </a:xfrm>
          <a:prstGeom prst="rect">
            <a:avLst/>
          </a:prstGeom>
          <a:noFill/>
        </p:spPr>
        <p:txBody>
          <a:bodyPr wrap="square" anchor="t" lIns="50800" rIns="50800" tIns="25400" bIns="25400">
            <a:spAutoFit/>
          </a:bodyPr>
          <a:lstStyle/>
          <a:p>
            <a:pPr algn="l">
              <a:spcAft>
                <a:spcPts val="600"/>
              </a:spcAft>
            </a:pPr>
            <a:r>
              <a:rPr sz="1300" b="0">
                <a:solidFill>
                  <a:srgbClr val="B39DDB"/>
                </a:solidFill>
                <a:latin typeface="Sarabun"/>
                <a:ea typeface="Sarabun"/>
                <a:cs typeface="Sarabun"/>
              </a:rPr>
              <a:t>Case 1 : * มอบหมาย / นัด / โน้ต</a:t>
            </a:r>
          </a:p>
          <a:p>
            <a:pPr algn="l">
              <a:spcAft>
                <a:spcPts val="600"/>
              </a:spcAft>
            </a:pPr>
            <a:r>
              <a:rPr sz="1300" b="0">
                <a:solidFill>
                  <a:srgbClr val="B39DDB"/>
                </a:solidFill>
                <a:latin typeface="Sarabun"/>
                <a:ea typeface="Sarabun"/>
                <a:cs typeface="Sarabun"/>
              </a:rPr>
              <a:t>Schedule ◇ นัด * (ยืมลิสต์นัดจาก repo มาตรวจ)</a:t>
            </a:r>
          </a:p>
        </p:txBody>
      </p:sp>
      <p:sp>
        <p:nvSpPr>
          <p:cNvPr id="34" name="TextBox 33"/>
          <p:cNvSpPr txBox="1"/>
          <p:nvPr/>
        </p:nvSpPr>
        <p:spPr>
          <a:xfrm>
            <a:off x="508000" y="6070600"/>
            <a:ext cx="11176000" cy="279400"/>
          </a:xfrm>
          <a:prstGeom prst="rect">
            <a:avLst/>
          </a:prstGeom>
          <a:noFill/>
        </p:spPr>
        <p:txBody>
          <a:bodyPr wrap="square" anchor="t" lIns="50800" rIns="50800" tIns="25400" bIns="25400">
            <a:spAutoFit/>
          </a:bodyPr>
          <a:lstStyle/>
          <a:p>
            <a:pPr algn="l">
              <a:spcAft>
                <a:spcPts val="600"/>
              </a:spcAft>
            </a:pPr>
            <a:r>
              <a:rPr sz="1200" b="0">
                <a:solidFill>
                  <a:srgbClr val="A6A6A6"/>
                </a:solidFill>
                <a:latin typeface="Sarabun"/>
                <a:ea typeface="Sarabun"/>
                <a:cs typeface="Sarabun"/>
              </a:rPr>
              <a:t>อ้างอิง: domain/case.py · assignment.py · appointment.py · schedule.py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